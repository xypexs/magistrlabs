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86" r:id="rId3"/>
    <p:sldId id="322" r:id="rId4"/>
    <p:sldId id="323" r:id="rId5"/>
    <p:sldId id="317" r:id="rId6"/>
    <p:sldId id="318" r:id="rId7"/>
    <p:sldId id="320" r:id="rId8"/>
    <p:sldId id="324" r:id="rId9"/>
    <p:sldId id="321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0AF1F3-BC3B-4878-BCF0-3F3E32A6FC54}">
  <a:tblStyle styleId="{C60AF1F3-BC3B-4878-BCF0-3F3E32A6FC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1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35067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6117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08230"/>
            <a:ext cx="9144000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РФ</a:t>
            </a: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«Рыбинский государственный авиационный технический университет </a:t>
            </a: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имени П.А. Соловьева» </a:t>
            </a: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и системы управления</a:t>
            </a: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математического и программного обеспечения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электронных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вычислительных средств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методов прогнозирования траектории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движения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объекта</a:t>
            </a:r>
          </a:p>
          <a:p>
            <a:pPr algn="ctr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/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Рыбинск 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537426"/>
              </p:ext>
            </p:extLst>
          </p:nvPr>
        </p:nvGraphicFramePr>
        <p:xfrm>
          <a:off x="380245" y="5054601"/>
          <a:ext cx="838351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755"/>
                <a:gridCol w="4191755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600" dirty="0" smtClean="0"/>
                        <a:t>Студент группы ПИМ-24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 smtClean="0"/>
                        <a:t>Ананьев Г.Е.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600" dirty="0" smtClean="0"/>
                        <a:t>Руководитель к.т.н., доцент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 smtClean="0"/>
                        <a:t>Задорина Н.А.</a:t>
                      </a:r>
                      <a:endParaRPr lang="ru-RU" sz="16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216883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3400"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 траектории движения объектов — это междисциплинарная область, объединяющая методы программирования, машинного обучения, робототехники, физики и анализа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данных.</a:t>
            </a:r>
          </a:p>
          <a:p>
            <a:pPr indent="533400" algn="just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33400" algn="just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– предсказание положения объекта в пространстве в будущем.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36829" y="9053"/>
            <a:ext cx="8270341" cy="941560"/>
          </a:xfrm>
        </p:spPr>
        <p:txBody>
          <a:bodyPr>
            <a:no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</a:rPr>
              <a:t>Прогнозирование траектории движения объекта</a:t>
            </a:r>
            <a:endParaRPr lang="ru-RU" sz="3200" dirty="0"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683" y="2960482"/>
            <a:ext cx="5222632" cy="3471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439"/>
            <a:ext cx="8229600" cy="1185169"/>
          </a:xfrm>
        </p:spPr>
        <p:txBody>
          <a:bodyPr>
            <a:normAutofit/>
          </a:bodyPr>
          <a:lstStyle/>
          <a:p>
            <a:r>
              <a:rPr lang="ru-RU" dirty="0"/>
              <a:t>Научная новизна </a:t>
            </a:r>
            <a:r>
              <a:rPr lang="ru-RU" dirty="0" smtClean="0"/>
              <a:t>исследования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0730"/>
            <a:ext cx="8229600" cy="5677269"/>
          </a:xfrm>
        </p:spPr>
        <p:txBody>
          <a:bodyPr>
            <a:normAutofit/>
          </a:bodyPr>
          <a:lstStyle/>
          <a:p>
            <a:pPr marL="0" indent="630238" algn="just">
              <a:buNone/>
            </a:pPr>
            <a:r>
              <a:rPr lang="ru-RU" sz="2800" dirty="0" smtClean="0"/>
              <a:t>Разрабатываемый алгоритм сможет эффективно </a:t>
            </a:r>
            <a:r>
              <a:rPr lang="ru-RU" sz="2800" dirty="0"/>
              <a:t>работать в условиях </a:t>
            </a:r>
            <a:r>
              <a:rPr lang="ru-RU" sz="2800" b="1" dirty="0"/>
              <a:t>неопределенности и разнообразия моделей движения</a:t>
            </a:r>
            <a:r>
              <a:rPr lang="ru-RU" sz="2800" dirty="0"/>
              <a:t> без необходимости предварительной настройки под конкретные типы траекторий. </a:t>
            </a:r>
            <a:endParaRPr lang="ru-RU" sz="2800" dirty="0" smtClean="0"/>
          </a:p>
          <a:p>
            <a:pPr marL="0" indent="630238" algn="just">
              <a:buNone/>
            </a:pPr>
            <a:r>
              <a:rPr lang="ru-RU" sz="2800" dirty="0" smtClean="0"/>
              <a:t>Так же новизна достигается за счёт достижения баланса </a:t>
            </a:r>
            <a:r>
              <a:rPr lang="ru-RU" sz="2800" dirty="0"/>
              <a:t>между тремя критически важными параметрами: </a:t>
            </a:r>
            <a:endParaRPr lang="ru-RU" sz="2800" dirty="0" smtClean="0"/>
          </a:p>
          <a:p>
            <a:pPr indent="-457200" algn="just"/>
            <a:r>
              <a:rPr lang="ru-RU" sz="2800" dirty="0" smtClean="0"/>
              <a:t>точностью прогнозирования</a:t>
            </a:r>
            <a:r>
              <a:rPr lang="ru-RU" sz="2800" dirty="0"/>
              <a:t>,</a:t>
            </a:r>
            <a:endParaRPr lang="ru-RU" sz="2800" dirty="0" smtClean="0"/>
          </a:p>
          <a:p>
            <a:pPr indent="-457200" algn="just"/>
            <a:r>
              <a:rPr lang="ru-RU" sz="2800" dirty="0" smtClean="0"/>
              <a:t>скоростью </a:t>
            </a:r>
            <a:r>
              <a:rPr lang="ru-RU" sz="2800" dirty="0"/>
              <a:t>обработки </a:t>
            </a:r>
            <a:r>
              <a:rPr lang="ru-RU" sz="2800" dirty="0" smtClean="0"/>
              <a:t>данных,</a:t>
            </a:r>
          </a:p>
          <a:p>
            <a:pPr indent="-457200" algn="just"/>
            <a:r>
              <a:rPr lang="ru-RU" sz="2800" dirty="0" err="1" smtClean="0"/>
              <a:t>ресурсозатратностью</a:t>
            </a:r>
            <a:r>
              <a:rPr lang="ru-RU" sz="2800" dirty="0" smtClean="0"/>
              <a:t>.</a:t>
            </a:r>
            <a:endParaRPr lang="ru-RU" sz="2800" dirty="0"/>
          </a:p>
          <a:p>
            <a:pPr algn="just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974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 smtClean="0"/>
              <a:t>Краткое описание решения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715000"/>
          </a:xfrm>
        </p:spPr>
        <p:txBody>
          <a:bodyPr>
            <a:normAutofit/>
          </a:bodyPr>
          <a:lstStyle/>
          <a:p>
            <a:pPr algn="just"/>
            <a:r>
              <a:rPr lang="ru-RU" sz="2800" dirty="0" smtClean="0"/>
              <a:t>Решение будет </a:t>
            </a:r>
            <a:r>
              <a:rPr lang="ru-RU" sz="2800" b="1" dirty="0" smtClean="0"/>
              <a:t>программным</a:t>
            </a:r>
            <a:r>
              <a:rPr lang="ru-RU" sz="2800" dirty="0" smtClean="0"/>
              <a:t> </a:t>
            </a:r>
            <a:r>
              <a:rPr lang="ru-RU" sz="2800" b="1" dirty="0" smtClean="0"/>
              <a:t>модулем</a:t>
            </a:r>
            <a:r>
              <a:rPr lang="ru-RU" sz="2800" dirty="0" smtClean="0"/>
              <a:t> с возможностью внедрения в крупные системы.</a:t>
            </a:r>
          </a:p>
          <a:p>
            <a:pPr algn="just"/>
            <a:endParaRPr lang="ru-RU" sz="2800" dirty="0" smtClean="0"/>
          </a:p>
          <a:p>
            <a:pPr algn="just"/>
            <a:r>
              <a:rPr lang="ru-RU" sz="2800" dirty="0" smtClean="0"/>
              <a:t>Классификация объектов может использоваться для адаптации параметров модели.</a:t>
            </a:r>
          </a:p>
          <a:p>
            <a:pPr algn="just"/>
            <a:endParaRPr lang="ru-RU" sz="2800" dirty="0"/>
          </a:p>
          <a:p>
            <a:pPr algn="just"/>
            <a:r>
              <a:rPr lang="ru-RU" sz="2800" b="1" dirty="0" smtClean="0"/>
              <a:t>Горизонт</a:t>
            </a:r>
            <a:r>
              <a:rPr lang="ru-RU" sz="2800" dirty="0" smtClean="0"/>
              <a:t> прогнозирования 1-10 секунд.</a:t>
            </a:r>
          </a:p>
          <a:p>
            <a:pPr algn="just"/>
            <a:endParaRPr lang="ru-RU" sz="2800" dirty="0"/>
          </a:p>
          <a:p>
            <a:pPr algn="just"/>
            <a:r>
              <a:rPr lang="ru-RU" sz="2800" b="1" dirty="0" smtClean="0"/>
              <a:t>Универсальность</a:t>
            </a:r>
            <a:r>
              <a:rPr lang="ru-RU" sz="2800" dirty="0" smtClean="0"/>
              <a:t> заключается в способности адаптироваться к изменяющимся траекториям движения объектов.</a:t>
            </a:r>
          </a:p>
          <a:p>
            <a:pPr algn="just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1029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22218"/>
          </a:xfrm>
        </p:spPr>
        <p:txBody>
          <a:bodyPr>
            <a:normAutofit/>
          </a:bodyPr>
          <a:lstStyle/>
          <a:p>
            <a:r>
              <a:rPr lang="ru-RU" dirty="0" smtClean="0"/>
              <a:t>Сферы применения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3183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ru-RU" sz="2800" b="1" dirty="0" smtClean="0"/>
              <a:t>Автономные </a:t>
            </a:r>
            <a:r>
              <a:rPr lang="ru-RU" sz="2800" b="1" dirty="0"/>
              <a:t>транспортные </a:t>
            </a:r>
            <a:r>
              <a:rPr lang="ru-RU" sz="2800" b="1" dirty="0" smtClean="0"/>
              <a:t>средства</a:t>
            </a:r>
            <a:r>
              <a:rPr lang="ru-RU" sz="2800" dirty="0" smtClean="0"/>
              <a:t>.</a:t>
            </a:r>
          </a:p>
          <a:p>
            <a:pPr algn="just"/>
            <a:r>
              <a:rPr lang="ru-RU" sz="2800" b="1" dirty="0" smtClean="0"/>
              <a:t>Робототехника</a:t>
            </a:r>
            <a:r>
              <a:rPr lang="ru-RU" sz="2800" dirty="0" smtClean="0"/>
              <a:t>. </a:t>
            </a:r>
          </a:p>
          <a:p>
            <a:pPr algn="just"/>
            <a:r>
              <a:rPr lang="ru-RU" sz="2800" b="1" dirty="0" smtClean="0"/>
              <a:t>Компьютерное зрение</a:t>
            </a:r>
            <a:r>
              <a:rPr lang="ru-RU" sz="2800" dirty="0" smtClean="0"/>
              <a:t>.</a:t>
            </a:r>
            <a:endParaRPr lang="ru-RU" sz="2800" dirty="0"/>
          </a:p>
          <a:p>
            <a:pPr algn="just"/>
            <a:r>
              <a:rPr lang="ru-RU" sz="2800" b="1" dirty="0" smtClean="0"/>
              <a:t>Аэрокосмическая отрасль</a:t>
            </a:r>
            <a:r>
              <a:rPr lang="ru-RU" sz="2800" dirty="0" smtClean="0"/>
              <a:t>.</a:t>
            </a:r>
            <a:endParaRPr lang="ru-RU" sz="2800" dirty="0"/>
          </a:p>
          <a:p>
            <a:pPr algn="just"/>
            <a:r>
              <a:rPr lang="ru-RU" sz="2800" b="1" dirty="0" smtClean="0"/>
              <a:t>Игровая индустрия</a:t>
            </a:r>
            <a:r>
              <a:rPr lang="ru-RU" sz="2800" dirty="0" smtClean="0"/>
              <a:t>.</a:t>
            </a:r>
          </a:p>
          <a:p>
            <a:pPr algn="just"/>
            <a:r>
              <a:rPr lang="ru-RU" sz="2800" b="1" dirty="0" smtClean="0"/>
              <a:t>Автоматизированные системы управления воздушным движением</a:t>
            </a:r>
            <a:endParaRPr lang="ru-RU" sz="2800" b="1" dirty="0"/>
          </a:p>
          <a:p>
            <a:pPr algn="just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3126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 smtClean="0"/>
              <a:t>Проблемы предметной области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2506"/>
            <a:ext cx="8229600" cy="5547510"/>
          </a:xfrm>
        </p:spPr>
        <p:txBody>
          <a:bodyPr>
            <a:normAutofit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ru-RU" sz="2400" b="1" dirty="0"/>
              <a:t>Неопределённость и динамичность </a:t>
            </a:r>
            <a:r>
              <a:rPr lang="ru-RU" sz="2400" b="1" dirty="0" smtClean="0"/>
              <a:t>среды</a:t>
            </a:r>
            <a:r>
              <a:rPr lang="ru-RU" sz="2400" dirty="0" smtClean="0"/>
              <a:t> (шумы, препятствия, непредсказуемость).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ru-RU" sz="2400" b="1" dirty="0" smtClean="0"/>
              <a:t>Вычислительные ограничения</a:t>
            </a:r>
            <a:r>
              <a:rPr lang="ru-RU" sz="2400" dirty="0" smtClean="0"/>
              <a:t> (ресурсоёмкость, латентность).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ru-RU" sz="2400" b="1" dirty="0" smtClean="0"/>
              <a:t>Недостаток </a:t>
            </a:r>
            <a:r>
              <a:rPr lang="ru-RU" sz="2400" b="1" dirty="0"/>
              <a:t>качественных </a:t>
            </a:r>
            <a:r>
              <a:rPr lang="ru-RU" sz="2400" b="1" dirty="0" smtClean="0"/>
              <a:t>данных</a:t>
            </a:r>
            <a:r>
              <a:rPr lang="ru-RU" sz="2400" dirty="0" smtClean="0"/>
              <a:t>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ru-RU" sz="2400" b="1" dirty="0" smtClean="0"/>
              <a:t>Модельные ограничения</a:t>
            </a:r>
            <a:r>
              <a:rPr lang="ru-RU" sz="2400" dirty="0" smtClean="0"/>
              <a:t> (компромисс между скоростью и точностью).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ru-RU" sz="2400" b="1" dirty="0" smtClean="0"/>
              <a:t>Этические </a:t>
            </a:r>
            <a:r>
              <a:rPr lang="ru-RU" sz="2400" b="1" dirty="0"/>
              <a:t>и правовые </a:t>
            </a:r>
            <a:r>
              <a:rPr lang="ru-RU" sz="2400" b="1" dirty="0" smtClean="0"/>
              <a:t>аспекты</a:t>
            </a:r>
            <a:r>
              <a:rPr lang="ru-RU" sz="2400" dirty="0" smtClean="0"/>
              <a:t> (ответственность за ошибки, конфиденциальность).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ru-RU" sz="2400" b="1" dirty="0" err="1" smtClean="0"/>
              <a:t>Мультиагентные</a:t>
            </a:r>
            <a:r>
              <a:rPr lang="ru-RU" sz="2400" b="1" dirty="0" smtClean="0"/>
              <a:t> взаимодействия</a:t>
            </a:r>
            <a:r>
              <a:rPr lang="ru-RU" sz="2400" dirty="0" smtClean="0"/>
              <a:t> (взаимодействие групп объектов).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1953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Критерии оценки решения задачи прогнозирования</a:t>
            </a:r>
            <a:endParaRPr lang="ru-R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768670"/>
              </p:ext>
            </p:extLst>
          </p:nvPr>
        </p:nvGraphicFramePr>
        <p:xfrm>
          <a:off x="457200" y="1390679"/>
          <a:ext cx="8229600" cy="5245398"/>
        </p:xfrm>
        <a:graphic>
          <a:graphicData uri="http://schemas.openxmlformats.org/drawingml/2006/table">
            <a:tbl>
              <a:tblPr firstRow="1" firstCol="1" bandRow="1">
                <a:tableStyleId>{C60AF1F3-BC3B-4878-BCF0-3F3E32A6FC54}</a:tableStyleId>
              </a:tblPr>
              <a:tblGrid>
                <a:gridCol w="4114800"/>
                <a:gridCol w="4114800"/>
              </a:tblGrid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Метрики/Подходы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MSE, MAE, FDE, ADE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Скорость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Латентность, количество прогнозов в единицу времени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Устойчивость к шумам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 шуме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Адаптивность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восстановления к точному прогнозу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Ресурсоёмкость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RAM, CPU/GPU нагрузка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Масштабируемость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Латентность при N объектах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Обобщающая способность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Учёт взаимодействий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Collision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01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Координация прогнозов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Учёт взаимодействия группы объектов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5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 smtClean="0"/>
              <a:t>Сравнение методов по метрикам</a:t>
            </a:r>
            <a:endParaRPr lang="ru-R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664037"/>
              </p:ext>
            </p:extLst>
          </p:nvPr>
        </p:nvGraphicFramePr>
        <p:xfrm>
          <a:off x="457198" y="1143000"/>
          <a:ext cx="8229601" cy="5539618"/>
        </p:xfrm>
        <a:graphic>
          <a:graphicData uri="http://schemas.openxmlformats.org/drawingml/2006/table">
            <a:tbl>
              <a:tblPr firstRow="1" firstCol="1" bandRow="1">
                <a:tableStyleId>{C60AF1F3-BC3B-4878-BCF0-3F3E32A6FC54}</a:tableStyleId>
              </a:tblPr>
              <a:tblGrid>
                <a:gridCol w="1362865"/>
                <a:gridCol w="1034278"/>
                <a:gridCol w="1505741"/>
                <a:gridCol w="1565972"/>
                <a:gridCol w="1481651"/>
                <a:gridCol w="1279094"/>
              </a:tblGrid>
              <a:tr h="7048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Метод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ADE (м)</a:t>
                      </a:r>
                      <a:br>
                        <a:rPr lang="ru-RU" sz="1600">
                          <a:effectLst/>
                        </a:rPr>
                      </a:br>
                      <a:r>
                        <a:rPr lang="ru-RU" sz="1600">
                          <a:effectLst/>
                        </a:rPr>
                        <a:t>5 сек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FDE (м)</a:t>
                      </a:r>
                      <a:br>
                        <a:rPr lang="ru-RU" sz="1600">
                          <a:effectLst/>
                        </a:rPr>
                      </a:br>
                      <a:r>
                        <a:rPr lang="ru-RU" sz="1600">
                          <a:effectLst/>
                        </a:rPr>
                        <a:t>5 сек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MSE (м²)</a:t>
                      </a:r>
                      <a:br>
                        <a:rPr lang="ru-RU" sz="1600">
                          <a:effectLst/>
                        </a:rPr>
                      </a:br>
                      <a:r>
                        <a:rPr lang="ru-RU" sz="1600">
                          <a:effectLst/>
                        </a:rPr>
                        <a:t>5 сек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Латентность (мс)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Ресурсы (RAM)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  <a:tr h="7823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Физические модели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1.2-2.0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2.5-4.0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1.5-4.0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1-5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&lt; 50 МБ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  <a:tr h="5119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LSTM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0.7-1.1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1.4-2.2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0.8-1.5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50-100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500-800 МБ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  <a:tr h="5611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Transformer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0.4-0.6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0.8-1.5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0.3-0.8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100-200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1.5-3 ГБ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  <a:tr h="7823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Гибридные модели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0.5-0.8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1.0-1.8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0.6-1.2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60-120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700 МБ-1.5 ГБ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  <a:tr h="7048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Фильтр Калмана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0.9-1.5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1.8-3.0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1.0-2.5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5-20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&lt; 100 МБ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  <a:tr h="3524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GAN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0.6-0.9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1.2-2.0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0.7-1.4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80-150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1-2 ГБ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  <a:tr h="5611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Particle Filters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0.8-1.2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1.6-2.5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1.0-1.8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20-50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200-500 МБ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  <a:tr h="5119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GNN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0.4-0.65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0.9-1.6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0.35-0.7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40-80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800 МБ-2 ГБ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1045" marR="5104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8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253" y="0"/>
            <a:ext cx="8229600" cy="1143000"/>
          </a:xfrm>
        </p:spPr>
        <p:txBody>
          <a:bodyPr/>
          <a:lstStyle/>
          <a:p>
            <a:r>
              <a:rPr lang="ru-RU" dirty="0" smtClean="0"/>
              <a:t>Анализ статей</a:t>
            </a:r>
            <a:endParaRPr lang="ru-R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631327"/>
              </p:ext>
            </p:extLst>
          </p:nvPr>
        </p:nvGraphicFramePr>
        <p:xfrm>
          <a:off x="466255" y="1143000"/>
          <a:ext cx="8229600" cy="5618460"/>
        </p:xfrm>
        <a:graphic>
          <a:graphicData uri="http://schemas.openxmlformats.org/drawingml/2006/table">
            <a:tbl>
              <a:tblPr firstRow="1" firstCol="1" bandRow="1">
                <a:tableStyleId>{C60AF1F3-BC3B-4878-BCF0-3F3E32A6FC54}</a:tableStyleId>
              </a:tblPr>
              <a:tblGrid>
                <a:gridCol w="3001222"/>
                <a:gridCol w="1204111"/>
                <a:gridCol w="1131683"/>
                <a:gridCol w="1285592"/>
                <a:gridCol w="1606992"/>
              </a:tblGrid>
              <a:tr h="396089"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Статья</a:t>
                      </a:r>
                      <a:endParaRPr lang="ru-RU" sz="1050" b="1" dirty="0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71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Актуальность</a:t>
                      </a:r>
                      <a:endParaRPr lang="ru-RU" sz="1050" b="1" dirty="0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Существующие решения</a:t>
                      </a:r>
                      <a:endParaRPr lang="ru-RU" sz="1050" b="1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Постановка задачи</a:t>
                      </a:r>
                      <a:endParaRPr lang="ru-RU" sz="1050" b="1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Предлагаемое решение</a:t>
                      </a:r>
                      <a:endParaRPr lang="ru-RU" sz="1050" b="1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</a:tr>
              <a:tr h="701361">
                <a:tc>
                  <a:txBody>
                    <a:bodyPr/>
                    <a:lstStyle/>
                    <a:p>
                      <a:pPr algn="ctr"/>
                      <a:r>
                        <a:rPr lang="ru-RU" sz="1050" dirty="0" smtClean="0">
                          <a:effectLst/>
                        </a:rPr>
                        <a:t>ИСПОЛЬЗОВАНИЕ УНИВЕРСАЛЬНОГО АЛГОРИТМА ПРОГНОЗИРОВАНИЯ ДЛЯ ТРАЕКТОРНОЙ ОБРАБОТКИ В АВТОМАТИЗИРОВАННЫХ СИСТЕМАХ УПРАВЛЕНИЯ ВОЗДУШНЫМ ДВИЖЕНИЕМ. Калинов С.Д., Земсков Ю.В.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71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Рост воздушного трафика, безопасность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Альфа-бета фильтр, фильтр </a:t>
                      </a:r>
                      <a:r>
                        <a:rPr lang="ru-RU" sz="1050" dirty="0" err="1">
                          <a:effectLst/>
                        </a:rPr>
                        <a:t>Калмана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Повышение точности прогноза координат ВС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Универсальный алгоритм с гауссовым ядром, снижение СКО на 20%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</a:tr>
              <a:tr h="701361">
                <a:tc>
                  <a:txBody>
                    <a:bodyPr/>
                    <a:lstStyle/>
                    <a:p>
                      <a:pPr algn="ctr"/>
                      <a:r>
                        <a:rPr lang="ru-RU" sz="1050" dirty="0" smtClean="0">
                          <a:effectLst/>
                        </a:rPr>
                        <a:t>ПРИМЕНЕНИЕ ФИЛЬТРА КАЛМАНА В ЗАДАЧАХ ТРЕКИНГА ВОЗДУШНЫХ ОБЪЕКТОВ. М.Б. Пименова.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71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Отслеживание при окклюзии, маневры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Фильтры частиц, метод Виолы-Джонса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Адаптация к маневрам и пропаданию объекта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Фильтр Калмана + цветовая сегментация, коррекция траектории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</a:tr>
              <a:tr h="701361">
                <a:tc>
                  <a:txBody>
                    <a:bodyPr/>
                    <a:lstStyle/>
                    <a:p>
                      <a:pPr algn="ctr"/>
                      <a:r>
                        <a:rPr lang="ru-RU" sz="1050" dirty="0" smtClean="0">
                          <a:effectLst/>
                        </a:rPr>
                        <a:t>Реализация фильтра частиц для построения траектории на графе. Кобелева А.О.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71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Локализация без </a:t>
                      </a:r>
                      <a:r>
                        <a:rPr lang="en-US" sz="1050" dirty="0">
                          <a:effectLst/>
                        </a:rPr>
                        <a:t>GPS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Радиоизмерения, инерциальные датчики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Привязка траектории к графу шахты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Фильтр частиц с байесовской фильтрацией, имитационная модель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</a:tr>
              <a:tr h="701361">
                <a:tc>
                  <a:txBody>
                    <a:bodyPr/>
                    <a:lstStyle/>
                    <a:p>
                      <a:pPr algn="ctr"/>
                      <a:r>
                        <a:rPr lang="ru-RU" sz="1050" dirty="0" smtClean="0">
                          <a:effectLst/>
                        </a:rPr>
                        <a:t>ПРОГНОЗИРОВАНИЕ ТРАЕКТОРИИ ДВИЖУЩЕЙСЯ ЦЕЛИ С ИСПОЛЬЗОВАНИЕМ ФОТО-ДАННЫХ И ФИЛЬТРА ЧАСТИЦ. </a:t>
                      </a:r>
                      <a:r>
                        <a:rPr lang="ru-RU" sz="1050" dirty="0" err="1" smtClean="0">
                          <a:effectLst/>
                        </a:rPr>
                        <a:t>Нгуен</a:t>
                      </a:r>
                      <a:r>
                        <a:rPr lang="ru-RU" sz="1050" dirty="0" smtClean="0">
                          <a:effectLst/>
                        </a:rPr>
                        <a:t> </a:t>
                      </a:r>
                      <a:r>
                        <a:rPr lang="ru-RU" sz="1050" dirty="0" err="1" smtClean="0">
                          <a:effectLst/>
                        </a:rPr>
                        <a:t>Минь</a:t>
                      </a:r>
                      <a:r>
                        <a:rPr lang="ru-RU" sz="1050" dirty="0" smtClean="0">
                          <a:effectLst/>
                        </a:rPr>
                        <a:t> </a:t>
                      </a:r>
                      <a:r>
                        <a:rPr lang="ru-RU" sz="1050" dirty="0" err="1" smtClean="0">
                          <a:effectLst/>
                        </a:rPr>
                        <a:t>Хонг</a:t>
                      </a:r>
                      <a:r>
                        <a:rPr lang="ru-RU" sz="1050" dirty="0" smtClean="0">
                          <a:effectLst/>
                        </a:rPr>
                        <a:t>.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71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Нелинейные траектории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effectLst/>
                        </a:rPr>
                        <a:t>EKF, UKF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Прогноз для нелинейных систем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Фильтр частиц с 3D-моделированием в MATLAB, сравнение с Калманом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</a:tr>
              <a:tr h="701361">
                <a:tc>
                  <a:txBody>
                    <a:bodyPr/>
                    <a:lstStyle/>
                    <a:p>
                      <a:pPr algn="ctr"/>
                      <a:r>
                        <a:rPr lang="ru-RU" sz="1050" dirty="0" smtClean="0">
                          <a:effectLst/>
                        </a:rPr>
                        <a:t>Прогнозирования движения объектов. Коптев Б.А., Розов А.К., Романовский А.Ф.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71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Ошибки измерений, время прогноза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Внешнетраекторные методы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Минимизация ошибок прогноза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Полиномиальная модель (ряд Тейлора) + апериодическая фильтрация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</a:tr>
              <a:tr h="701361">
                <a:tc>
                  <a:txBody>
                    <a:bodyPr/>
                    <a:lstStyle/>
                    <a:p>
                      <a:pPr algn="ctr"/>
                      <a:r>
                        <a:rPr lang="ru-RU" sz="105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ПРИМЕНЕНИЕ ИСКУССТВЕННОЙ НЕЙРОННОЙ СЕТИ ДЛЯ РЕШЕНИЯ ЗАДАЧ ПРОГНОЗИРОВАНИЯ ДВИЖЕНИЯ НАЗЕМНЫХ ОБЪЕКТОВ. Соколов Д.Ю.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71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Нелинейные траектории, глубина данных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Классические НС, интерполяция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Учет последовательности точек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Рекуррентная НС с пространственной привязкой, обучение по </a:t>
                      </a:r>
                      <a:r>
                        <a:rPr lang="ru-RU" sz="1050" dirty="0" err="1">
                          <a:effectLst/>
                        </a:rPr>
                        <a:t>Хеббу</a:t>
                      </a:r>
                      <a:r>
                        <a:rPr lang="ru-RU" sz="1050" dirty="0">
                          <a:effectLst/>
                        </a:rPr>
                        <a:t>/</a:t>
                      </a:r>
                      <a:r>
                        <a:rPr lang="ru-RU" sz="1050" dirty="0" err="1">
                          <a:effectLst/>
                        </a:rPr>
                        <a:t>Видроу-Хоффа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</a:tr>
              <a:tr h="701361">
                <a:tc>
                  <a:txBody>
                    <a:bodyPr/>
                    <a:lstStyle/>
                    <a:p>
                      <a:pPr algn="ctr"/>
                      <a:r>
                        <a:rPr lang="ru-RU" sz="105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 ПРОГНОЗИРОВАНИЯ ТРАЕКТОРИИ ДВИЖЕНИЯ ЦЕЛИ. Мельников П.Н.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71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Непредсказуемые маневры цели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Фильтрация параметров движения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>
                          <a:effectLst/>
                        </a:rPr>
                        <a:t>Снижение ошибок для криволинейных траекторий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dirty="0">
                          <a:effectLst/>
                        </a:rPr>
                        <a:t>Два метода: ряд Тейлора + система координат скорости, оценка качества через запаздывание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1115" marR="41115" marT="41115" marB="4111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10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4525</TotalTime>
  <Words>608</Words>
  <Application>Microsoft Office PowerPoint</Application>
  <PresentationFormat>On-screen Show (4:3)</PresentationFormat>
  <Paragraphs>174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Verdana</vt:lpstr>
      <vt:lpstr>Тема Office</vt:lpstr>
      <vt:lpstr>PowerPoint Presentation</vt:lpstr>
      <vt:lpstr>Прогнозирование траектории движения объекта</vt:lpstr>
      <vt:lpstr>Научная новизна исследования</vt:lpstr>
      <vt:lpstr>Краткое описание решения</vt:lpstr>
      <vt:lpstr>Сферы применения</vt:lpstr>
      <vt:lpstr>Проблемы предметной области</vt:lpstr>
      <vt:lpstr>Критерии оценки решения задачи прогнозирования</vt:lpstr>
      <vt:lpstr>Сравнение методов по метрикам</vt:lpstr>
      <vt:lpstr>Анализ статей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программной системы исследования нейросетевой генерации сигналов в модели GAN</dc:title>
  <cp:lastModifiedBy>gleb</cp:lastModifiedBy>
  <cp:revision>671</cp:revision>
  <dcterms:modified xsi:type="dcterms:W3CDTF">2025-12-22T18:44:08Z</dcterms:modified>
</cp:coreProperties>
</file>