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3" r:id="rId4"/>
    <p:sldId id="264" r:id="rId5"/>
    <p:sldId id="265" r:id="rId6"/>
    <p:sldId id="266" r:id="rId7"/>
    <p:sldId id="267" r:id="rId8"/>
    <p:sldId id="259" r:id="rId9"/>
    <p:sldId id="262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Антропоморфный метод распознавания эмоций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Грызлова Т. П.</a:t>
            </a:r>
          </a:p>
          <a:p>
            <a:pPr algn="ctr"/>
            <a:r>
              <a:rPr lang="ru-RU" dirty="0" smtClean="0"/>
              <a:t>2024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9689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Автоматическое распознавание эмоций по речевому сигналу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57200" y="2480052"/>
            <a:ext cx="107916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Четырехмерная сферическая модель эмоций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Принципы </a:t>
            </a:r>
            <a:r>
              <a:rPr lang="ru-RU" dirty="0"/>
              <a:t>кодирования информации в нервной системе.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ru-RU" dirty="0"/>
          </a:p>
          <a:p>
            <a:pPr algn="just"/>
            <a:r>
              <a:rPr lang="ru-RU" dirty="0" smtClean="0"/>
              <a:t>В </a:t>
            </a:r>
            <a:r>
              <a:rPr lang="ru-RU" dirty="0"/>
              <a:t>результате разработан и экспериментально протестирован принцип относительного </a:t>
            </a:r>
            <a:r>
              <a:rPr lang="ru-RU" b="1" dirty="0"/>
              <a:t>кросс-частотного</a:t>
            </a:r>
            <a:r>
              <a:rPr lang="ru-RU" dirty="0"/>
              <a:t> амплитудно-вариабельного кодирования эмоций в речевом сигнале. 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Проверялась </a:t>
            </a:r>
            <a:r>
              <a:rPr lang="ru-RU" dirty="0"/>
              <a:t>гипотеза о том, что речь является многоканальным (разнесенным по частотам) сигналом, в каждой полосе которого возможны независимые быстрые микро-изменения амплитуды. </a:t>
            </a:r>
            <a:endParaRPr lang="ru-RU" dirty="0" smtClean="0"/>
          </a:p>
          <a:p>
            <a:endParaRPr lang="ru-RU" dirty="0" smtClean="0"/>
          </a:p>
          <a:p>
            <a:pPr algn="just"/>
            <a:r>
              <a:rPr lang="ru-RU" dirty="0" smtClean="0"/>
              <a:t>Показано </a:t>
            </a:r>
            <a:r>
              <a:rPr lang="ru-RU" dirty="0"/>
              <a:t>соответствие выделенных параметров речевого сигнала и субъективного восприятия тех же образцов (коротких слов «</a:t>
            </a:r>
            <a:r>
              <a:rPr lang="ru-RU" b="1" dirty="0"/>
              <a:t>да</a:t>
            </a:r>
            <a:r>
              <a:rPr lang="ru-RU" dirty="0"/>
              <a:t>» и «</a:t>
            </a:r>
            <a:r>
              <a:rPr lang="ru-RU" b="1" dirty="0"/>
              <a:t>нет</a:t>
            </a:r>
            <a:r>
              <a:rPr lang="ru-RU" dirty="0"/>
              <a:t>») в системе формализованных параметров четырехмерной психофизиологической модели эмоций. Полученные параметры (факторы) можно охарактеризовать как бимодальные спектральные </a:t>
            </a:r>
            <a:r>
              <a:rPr lang="ru-RU" dirty="0" smtClean="0"/>
              <a:t>фильтры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793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541801" cy="706964"/>
          </a:xfrm>
        </p:spPr>
        <p:txBody>
          <a:bodyPr/>
          <a:lstStyle/>
          <a:p>
            <a:r>
              <a:rPr lang="ru-RU" dirty="0" smtClean="0"/>
              <a:t>Значимые факторы при распознавании эмоций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79894" y="2238513"/>
            <a:ext cx="1079164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Фактор </a:t>
            </a:r>
            <a:r>
              <a:rPr lang="ru-RU" b="1" dirty="0"/>
              <a:t>1 </a:t>
            </a:r>
            <a:r>
              <a:rPr lang="ru-RU" dirty="0"/>
              <a:t>определяет изменение звукового сигнала по оси знака эмоций – чем больше вклад данного компонента по сравнению с другими, тем положительнее (лучше, полезнее) оценивается объект высказывания</a:t>
            </a:r>
            <a:r>
              <a:rPr lang="ru-RU" dirty="0"/>
              <a:t>. </a:t>
            </a:r>
            <a:r>
              <a:rPr lang="ru-RU" b="1" dirty="0"/>
              <a:t>3000 </a:t>
            </a:r>
            <a:r>
              <a:rPr lang="ru-RU" b="1" dirty="0" smtClean="0"/>
              <a:t>Гц, </a:t>
            </a:r>
            <a:r>
              <a:rPr lang="ru-RU" b="1" dirty="0"/>
              <a:t>500 Гц</a:t>
            </a:r>
            <a:endParaRPr lang="ru-RU" b="1" dirty="0" smtClean="0"/>
          </a:p>
          <a:p>
            <a:r>
              <a:rPr lang="ru-RU" dirty="0" smtClean="0"/>
              <a:t> </a:t>
            </a:r>
          </a:p>
          <a:p>
            <a:r>
              <a:rPr lang="ru-RU" b="1" dirty="0" smtClean="0"/>
              <a:t>Фактор </a:t>
            </a:r>
            <a:r>
              <a:rPr lang="ru-RU" b="1" dirty="0"/>
              <a:t>2 </a:t>
            </a:r>
            <a:r>
              <a:rPr lang="ru-RU" dirty="0"/>
              <a:t>показывает степень информационной неопределенности ситуации – удивление в противоположность уверенности (спокойствию). </a:t>
            </a:r>
            <a:r>
              <a:rPr lang="ru-RU" b="1" dirty="0"/>
              <a:t>1000 и 1750 Гц</a:t>
            </a:r>
            <a:endParaRPr lang="ru-RU" b="1" dirty="0" smtClean="0"/>
          </a:p>
          <a:p>
            <a:endParaRPr lang="ru-RU" b="1" dirty="0" smtClean="0"/>
          </a:p>
          <a:p>
            <a:pPr algn="just"/>
            <a:r>
              <a:rPr lang="ru-RU" b="1" dirty="0" smtClean="0"/>
              <a:t>Фактор </a:t>
            </a:r>
            <a:r>
              <a:rPr lang="ru-RU" b="1" dirty="0"/>
              <a:t>3 </a:t>
            </a:r>
            <a:r>
              <a:rPr lang="ru-RU" dirty="0"/>
              <a:t>характеризует притяжение (любовь), при этом для набора слов «нет» он сопровождается отсутствием активного отвержения, а для набора «да» – положительной оценкой (знаком). </a:t>
            </a:r>
            <a:r>
              <a:rPr lang="ru-RU" b="1" dirty="0"/>
              <a:t>около 150 </a:t>
            </a:r>
            <a:r>
              <a:rPr lang="ru-RU" b="1" dirty="0" smtClean="0"/>
              <a:t>Гц ,3500 </a:t>
            </a:r>
            <a:r>
              <a:rPr lang="ru-RU" b="1" dirty="0"/>
              <a:t>Гц</a:t>
            </a:r>
            <a:endParaRPr lang="ru-RU" b="1" dirty="0" smtClean="0"/>
          </a:p>
          <a:p>
            <a:endParaRPr lang="ru-RU" b="1" dirty="0" smtClean="0"/>
          </a:p>
          <a:p>
            <a:pPr algn="just"/>
            <a:r>
              <a:rPr lang="ru-RU" b="1" dirty="0" smtClean="0"/>
              <a:t>Фактор </a:t>
            </a:r>
            <a:r>
              <a:rPr lang="ru-RU" b="1" dirty="0"/>
              <a:t>4 </a:t>
            </a:r>
            <a:r>
              <a:rPr lang="ru-RU" dirty="0"/>
              <a:t>соответствует характеру отвержения, определяет, будет ли агрессивная (активная) или пассивная (страх, бегство) реакция.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236165" y="5747166"/>
            <a:ext cx="1739579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/>
              <a:t>600 и 1500 Гц </a:t>
            </a:r>
          </a:p>
        </p:txBody>
      </p:sp>
    </p:spTree>
    <p:extLst>
      <p:ext uri="{BB962C8B-B14F-4D97-AF65-F5344CB8AC3E}">
        <p14:creationId xmlns:p14="http://schemas.microsoft.com/office/powerpoint/2010/main" val="792116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70625" y="2703775"/>
            <a:ext cx="98139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Полученные результаты в целом подтверждают продуктивность предлагаемого антропоморфного подхода к разработке технических систем, в частности, к методам обработки речевого сигнала и представления данных. Обнаруженное совпадение подтверждает и выделенные ранее параметры психофизиологической модели, дополнительно обосновывая предпочтительность (по сравнению с другими известными в литературе) именно такой системы классификации эмоций, как с точки зрения размерности, так и в отношении ориентации осей пространства модели.</a:t>
            </a:r>
          </a:p>
        </p:txBody>
      </p:sp>
    </p:spTree>
    <p:extLst>
      <p:ext uri="{BB962C8B-B14F-4D97-AF65-F5344CB8AC3E}">
        <p14:creationId xmlns:p14="http://schemas.microsoft.com/office/powerpoint/2010/main" val="406603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Признаки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04801" y="2699440"/>
            <a:ext cx="43965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ПРИЗНАКИ: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спектрально-временные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err="1"/>
              <a:t>к</a:t>
            </a:r>
            <a:r>
              <a:rPr lang="ru-RU" dirty="0" err="1" smtClean="0"/>
              <a:t>епстральные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амплитудно-частотные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dirty="0" smtClean="0"/>
              <a:t>на </a:t>
            </a:r>
            <a:r>
              <a:rPr lang="ru-RU" dirty="0"/>
              <a:t>основе нелинейной </a:t>
            </a:r>
            <a:r>
              <a:rPr lang="ru-RU" dirty="0" smtClean="0"/>
              <a:t>динамики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99826" y="2468608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/>
              <a:t>Спектрально-временные признаки отражают своеобразие формы временного ряда, спектра голосовых импульсов у разных лиц и специфику фильтрующих функций их речевых трактов. </a:t>
            </a:r>
            <a:endParaRPr lang="ru-RU" dirty="0" smtClean="0"/>
          </a:p>
          <a:p>
            <a:endParaRPr lang="ru-RU" dirty="0"/>
          </a:p>
          <a:p>
            <a:pPr algn="just"/>
            <a:r>
              <a:rPr lang="ru-RU" dirty="0" smtClean="0"/>
              <a:t>Они </a:t>
            </a:r>
            <a:r>
              <a:rPr lang="ru-RU" dirty="0"/>
              <a:t>характеризуют особенности речевого потока, связанные с динамикой перестройки артикуляционных органов речи говорящего, и являются </a:t>
            </a:r>
            <a:r>
              <a:rPr lang="ru-RU" b="1" dirty="0"/>
              <a:t>интегральными</a:t>
            </a:r>
            <a:r>
              <a:rPr lang="ru-RU" dirty="0"/>
              <a:t> характеристиками речевого потока, демонстрирующими своеобразие взаимосвязи или синхронности движения артикуляторных органов говорящего</a:t>
            </a:r>
          </a:p>
        </p:txBody>
      </p:sp>
    </p:spTree>
    <p:extLst>
      <p:ext uri="{BB962C8B-B14F-4D97-AF65-F5344CB8AC3E}">
        <p14:creationId xmlns:p14="http://schemas.microsoft.com/office/powerpoint/2010/main" val="2514246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Методика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-1" y="2353906"/>
            <a:ext cx="59349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Это – 20 образцов слова «да» и 20 образцов слова «нет» (средняя </a:t>
            </a:r>
            <a:r>
              <a:rPr lang="ru-RU" dirty="0" smtClean="0"/>
              <a:t>длительность </a:t>
            </a:r>
            <a:r>
              <a:rPr lang="ru-RU" dirty="0"/>
              <a:t>0,60 сек, стандартное </a:t>
            </a:r>
            <a:r>
              <a:rPr lang="ru-RU" dirty="0" smtClean="0"/>
              <a:t>отклонение </a:t>
            </a:r>
            <a:r>
              <a:rPr lang="ru-RU" dirty="0"/>
              <a:t>0,19 сек; минимальная длительность 0,3 сек, максимальная 0,98 сек; запись в полосе до 8000 Гц).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024113" y="235390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Для звукового фрагмента с помощью стандартных средств – быстрое </a:t>
            </a:r>
            <a:r>
              <a:rPr lang="ru-RU" dirty="0" smtClean="0"/>
              <a:t>преобразование </a:t>
            </a:r>
            <a:r>
              <a:rPr lang="ru-RU" dirty="0"/>
              <a:t>Фурье со сглаживанием в минимальном скользящем окне </a:t>
            </a:r>
            <a:r>
              <a:rPr lang="ru-RU" dirty="0" smtClean="0"/>
              <a:t>порядка </a:t>
            </a:r>
            <a:r>
              <a:rPr lang="ru-RU" dirty="0"/>
              <a:t>10-15 </a:t>
            </a:r>
            <a:r>
              <a:rPr lang="ru-RU" dirty="0" err="1"/>
              <a:t>мс</a:t>
            </a:r>
            <a:r>
              <a:rPr lang="ru-RU" dirty="0"/>
              <a:t> вычисляется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27494" y="4290558"/>
            <a:ext cx="99606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последовательность </a:t>
            </a:r>
            <a:r>
              <a:rPr lang="ru-RU" dirty="0"/>
              <a:t>мгновенных спектров мощности сигнала (в диапазон от 0 до 4000 Гц с шагом 50 Гц). </a:t>
            </a:r>
            <a:endParaRPr lang="ru-RU" dirty="0" smtClean="0"/>
          </a:p>
          <a:p>
            <a:r>
              <a:rPr lang="ru-RU" dirty="0" smtClean="0"/>
              <a:t>2 </a:t>
            </a:r>
            <a:r>
              <a:rPr lang="ru-RU" dirty="0"/>
              <a:t>На основе последовательности </a:t>
            </a:r>
            <a:r>
              <a:rPr lang="ru-RU" dirty="0" smtClean="0"/>
              <a:t>мгновенных </a:t>
            </a:r>
            <a:r>
              <a:rPr lang="ru-RU" dirty="0"/>
              <a:t>спектров в скользящем окне </a:t>
            </a:r>
            <a:r>
              <a:rPr lang="ru-RU" dirty="0" smtClean="0"/>
              <a:t>(окна </a:t>
            </a:r>
            <a:r>
              <a:rPr lang="ru-RU" dirty="0"/>
              <a:t>порядка 50-200 </a:t>
            </a:r>
            <a:r>
              <a:rPr lang="ru-RU" dirty="0" err="1"/>
              <a:t>мс</a:t>
            </a:r>
            <a:r>
              <a:rPr lang="ru-RU" dirty="0"/>
              <a:t>) вычисляется показатель </a:t>
            </a:r>
            <a:r>
              <a:rPr lang="ru-RU" dirty="0" smtClean="0"/>
              <a:t>микро-вариативности </a:t>
            </a:r>
            <a:r>
              <a:rPr lang="ru-RU" dirty="0"/>
              <a:t>(стандартное </a:t>
            </a:r>
            <a:r>
              <a:rPr lang="ru-RU" dirty="0" smtClean="0"/>
              <a:t>отклонение</a:t>
            </a:r>
            <a:r>
              <a:rPr lang="ru-RU" dirty="0"/>
              <a:t>) амплитуды (квадратного корня от мощности) на каждой частоте. </a:t>
            </a:r>
            <a:endParaRPr lang="ru-RU" dirty="0" smtClean="0"/>
          </a:p>
          <a:p>
            <a:pPr algn="just"/>
            <a:r>
              <a:rPr lang="ru-RU" dirty="0" smtClean="0"/>
              <a:t>3 </a:t>
            </a:r>
            <a:r>
              <a:rPr lang="ru-RU" dirty="0"/>
              <a:t>Для вычисления интегральной оценки всего звукового образца </a:t>
            </a:r>
            <a:r>
              <a:rPr lang="ru-RU" dirty="0" smtClean="0"/>
              <a:t>использовалось </a:t>
            </a:r>
            <a:r>
              <a:rPr lang="ru-RU" dirty="0"/>
              <a:t>простое усреднение предыдущего показателя по всему интервалу звучания и получения одного вектора (по </a:t>
            </a:r>
            <a:r>
              <a:rPr lang="ru-RU" dirty="0" smtClean="0"/>
              <a:t>частоте</a:t>
            </a:r>
            <a:r>
              <a:rPr lang="ru-RU" dirty="0"/>
              <a:t>) для каждого звукового образца</a:t>
            </a:r>
          </a:p>
        </p:txBody>
      </p:sp>
    </p:spTree>
    <p:extLst>
      <p:ext uri="{BB962C8B-B14F-4D97-AF65-F5344CB8AC3E}">
        <p14:creationId xmlns:p14="http://schemas.microsoft.com/office/powerpoint/2010/main" val="268602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046671" y="2704728"/>
            <a:ext cx="103143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Фактор 1 </a:t>
            </a:r>
            <a:r>
              <a:rPr lang="ru-RU" dirty="0"/>
              <a:t>имеет основной максимум в области 3000 Гц и вспомогательный – 500 Гц. </a:t>
            </a:r>
            <a:endParaRPr lang="ru-RU" dirty="0" smtClean="0"/>
          </a:p>
          <a:p>
            <a:endParaRPr lang="ru-RU" dirty="0" smtClean="0"/>
          </a:p>
          <a:p>
            <a:r>
              <a:rPr lang="ru-RU" b="1" dirty="0" smtClean="0"/>
              <a:t>Фактор </a:t>
            </a:r>
            <a:r>
              <a:rPr lang="ru-RU" b="1" dirty="0"/>
              <a:t>2 </a:t>
            </a:r>
            <a:r>
              <a:rPr lang="ru-RU" dirty="0"/>
              <a:t>имеет два близких </a:t>
            </a:r>
            <a:r>
              <a:rPr lang="ru-RU" dirty="0" smtClean="0"/>
              <a:t>максимума </a:t>
            </a:r>
            <a:r>
              <a:rPr lang="ru-RU" dirty="0"/>
              <a:t>на частотах 1000 и 1750 Гц. </a:t>
            </a:r>
            <a:endParaRPr lang="ru-RU" dirty="0" smtClean="0"/>
          </a:p>
          <a:p>
            <a:endParaRPr lang="ru-RU" dirty="0" smtClean="0"/>
          </a:p>
          <a:p>
            <a:r>
              <a:rPr lang="ru-RU" b="1" dirty="0" smtClean="0"/>
              <a:t>Фактор </a:t>
            </a:r>
            <a:r>
              <a:rPr lang="ru-RU" b="1" dirty="0"/>
              <a:t>3 </a:t>
            </a:r>
            <a:r>
              <a:rPr lang="ru-RU" dirty="0"/>
              <a:t>имеет самые широко разнесенные </a:t>
            </a:r>
            <a:r>
              <a:rPr lang="ru-RU" dirty="0" smtClean="0"/>
              <a:t>максимумы </a:t>
            </a:r>
            <a:r>
              <a:rPr lang="ru-RU" dirty="0"/>
              <a:t>– в низкочастотной области (около 150 Гц) и высокочастотной </a:t>
            </a:r>
            <a:r>
              <a:rPr lang="ru-RU" dirty="0" smtClean="0"/>
              <a:t>области </a:t>
            </a:r>
            <a:r>
              <a:rPr lang="ru-RU" dirty="0"/>
              <a:t>(3500 Гц). </a:t>
            </a:r>
            <a:endParaRPr lang="ru-RU" dirty="0" smtClean="0"/>
          </a:p>
          <a:p>
            <a:endParaRPr lang="ru-RU" dirty="0"/>
          </a:p>
          <a:p>
            <a:r>
              <a:rPr lang="ru-RU" b="1" dirty="0" smtClean="0"/>
              <a:t>Фактор </a:t>
            </a:r>
            <a:r>
              <a:rPr lang="ru-RU" b="1" dirty="0"/>
              <a:t>4 </a:t>
            </a:r>
            <a:r>
              <a:rPr lang="ru-RU" dirty="0"/>
              <a:t>имеет близкие максимумы на 600 и 1500 Гц и близок к фактору 2, но сдвинут относительно него в низкочастотную область, </a:t>
            </a:r>
            <a:r>
              <a:rPr lang="ru-RU" dirty="0" smtClean="0"/>
              <a:t>попадая </a:t>
            </a:r>
            <a:r>
              <a:rPr lang="ru-RU" dirty="0"/>
              <a:t>своими максимумами в его </a:t>
            </a:r>
            <a:r>
              <a:rPr lang="ru-RU" dirty="0" smtClean="0"/>
              <a:t>локальные </a:t>
            </a:r>
            <a:r>
              <a:rPr lang="ru-RU" dirty="0"/>
              <a:t>минимумы</a:t>
            </a:r>
          </a:p>
        </p:txBody>
      </p:sp>
    </p:spTree>
    <p:extLst>
      <p:ext uri="{BB962C8B-B14F-4D97-AF65-F5344CB8AC3E}">
        <p14:creationId xmlns:p14="http://schemas.microsoft.com/office/powerpoint/2010/main" val="3822506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8902" t="14414" r="64069" b="6010"/>
          <a:stretch/>
        </p:blipFill>
        <p:spPr>
          <a:xfrm>
            <a:off x="785003" y="595222"/>
            <a:ext cx="3717986" cy="615709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39650" t="19655" r="33429" b="47741"/>
          <a:stretch/>
        </p:blipFill>
        <p:spPr>
          <a:xfrm>
            <a:off x="6405610" y="3673768"/>
            <a:ext cx="3639623" cy="247943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9029" t="55606" r="63845" b="7247"/>
          <a:stretch/>
        </p:blipFill>
        <p:spPr>
          <a:xfrm>
            <a:off x="5969478" y="595222"/>
            <a:ext cx="3579963" cy="275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67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39605" t="25615" r="3270" b="6225"/>
          <a:stretch/>
        </p:blipFill>
        <p:spPr>
          <a:xfrm>
            <a:off x="1043796" y="940279"/>
            <a:ext cx="7142671" cy="479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56559" y="230934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Антропоморфный метод распознавания эмоций в звучащей речи А.В. </a:t>
            </a:r>
            <a:r>
              <a:rPr lang="ru-RU" dirty="0" err="1"/>
              <a:t>Вартанов</a:t>
            </a:r>
            <a:r>
              <a:rPr lang="ru-RU" dirty="0"/>
              <a:t> МГУ имени </a:t>
            </a:r>
            <a:r>
              <a:rPr lang="ru-RU" dirty="0" err="1"/>
              <a:t>М.В.Ломоносова</a:t>
            </a:r>
            <a:r>
              <a:rPr lang="ru-RU" dirty="0"/>
              <a:t>, Москва, Россия </a:t>
            </a:r>
            <a:r>
              <a:rPr lang="ru-RU" dirty="0" smtClean="0"/>
              <a:t>  </a:t>
            </a:r>
            <a:r>
              <a:rPr lang="ru-RU" dirty="0"/>
              <a:t>Национальный психологический журнал №2(10)/2013, 69–79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452559" y="2586343"/>
            <a:ext cx="57394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Национальный психологический журнал </a:t>
            </a:r>
            <a:r>
              <a:rPr lang="ru-RU" dirty="0" err="1"/>
              <a:t>National</a:t>
            </a:r>
            <a:r>
              <a:rPr lang="ru-RU" dirty="0"/>
              <a:t> </a:t>
            </a:r>
            <a:r>
              <a:rPr lang="ru-RU" dirty="0" err="1"/>
              <a:t>psychological</a:t>
            </a:r>
            <a:r>
              <a:rPr lang="ru-RU" dirty="0"/>
              <a:t> </a:t>
            </a:r>
            <a:r>
              <a:rPr lang="ru-RU" dirty="0" err="1"/>
              <a:t>journal</a:t>
            </a:r>
            <a:r>
              <a:rPr lang="ru-RU" dirty="0"/>
              <a:t> http://www.psy.msu.ru/science/npj/</a:t>
            </a:r>
          </a:p>
        </p:txBody>
      </p:sp>
    </p:spTree>
    <p:extLst>
      <p:ext uri="{BB962C8B-B14F-4D97-AF65-F5344CB8AC3E}">
        <p14:creationId xmlns:p14="http://schemas.microsoft.com/office/powerpoint/2010/main" val="24818285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324</TotalTime>
  <Words>636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Ион (конференц-зал)</vt:lpstr>
      <vt:lpstr>Антропоморфный метод распознавания эмоций</vt:lpstr>
      <vt:lpstr>Автоматическое распознавание эмоций по речевому сигналу</vt:lpstr>
      <vt:lpstr>Значимые факторы при распознавании эмоций</vt:lpstr>
      <vt:lpstr>Заключение</vt:lpstr>
      <vt:lpstr>Признаки</vt:lpstr>
      <vt:lpstr>Методика</vt:lpstr>
      <vt:lpstr>Результаты</vt:lpstr>
      <vt:lpstr>Презентация PowerPoint</vt:lpstr>
      <vt:lpstr>Презентация PowerPoint</vt:lpstr>
      <vt:lpstr>Литература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15</cp:revision>
  <dcterms:created xsi:type="dcterms:W3CDTF">2024-11-16T08:17:17Z</dcterms:created>
  <dcterms:modified xsi:type="dcterms:W3CDTF">2024-11-22T19:47:11Z</dcterms:modified>
</cp:coreProperties>
</file>