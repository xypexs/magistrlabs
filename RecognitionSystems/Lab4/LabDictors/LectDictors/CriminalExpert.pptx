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6" r:id="rId10"/>
    <p:sldId id="267" r:id="rId11"/>
    <p:sldId id="269" r:id="rId12"/>
    <p:sldId id="270" r:id="rId13"/>
    <p:sldId id="262" r:id="rId14"/>
    <p:sldId id="271" r:id="rId15"/>
    <p:sldId id="272" r:id="rId16"/>
    <p:sldId id="274" r:id="rId17"/>
    <p:sldId id="273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peerj.com/preprints/26688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 smtClean="0"/>
              <a:t>Инструментальные средства в криминалистической идентификации дикторов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42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58483" y="894612"/>
            <a:ext cx="776089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Методика криминалистической идентификации дикторов по речи на русском и других языках включает в себя </a:t>
            </a:r>
            <a:r>
              <a:rPr lang="ru-RU" b="1" dirty="0" smtClean="0"/>
              <a:t>сравнение:</a:t>
            </a:r>
          </a:p>
          <a:p>
            <a:endParaRPr lang="ru-RU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</a:t>
            </a:r>
            <a:r>
              <a:rPr lang="ru-RU" b="1" dirty="0"/>
              <a:t>г</a:t>
            </a:r>
            <a:r>
              <a:rPr lang="ru-RU" dirty="0" smtClean="0"/>
              <a:t>ауссовых </a:t>
            </a:r>
            <a:r>
              <a:rPr lang="ru-RU" dirty="0"/>
              <a:t>моделей </a:t>
            </a:r>
            <a:r>
              <a:rPr lang="ru-RU" dirty="0" smtClean="0"/>
              <a:t>речи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b="1" dirty="0" smtClean="0"/>
              <a:t>с</a:t>
            </a:r>
            <a:r>
              <a:rPr lang="ru-RU" dirty="0" smtClean="0"/>
              <a:t>татистик </a:t>
            </a:r>
            <a:r>
              <a:rPr lang="ru-RU" dirty="0"/>
              <a:t>основного тона </a:t>
            </a:r>
            <a:r>
              <a:rPr lang="ru-RU" dirty="0" smtClean="0"/>
              <a:t>голоса </a:t>
            </a:r>
            <a:r>
              <a:rPr lang="ru-RU" dirty="0"/>
              <a:t>и </a:t>
            </a:r>
            <a:r>
              <a:rPr lang="ru-RU" dirty="0" smtClean="0"/>
              <a:t>формант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b="1" dirty="0" smtClean="0"/>
              <a:t>э</a:t>
            </a:r>
            <a:r>
              <a:rPr lang="ru-RU" dirty="0" smtClean="0"/>
              <a:t>кспертное </a:t>
            </a:r>
            <a:r>
              <a:rPr lang="ru-RU" dirty="0"/>
              <a:t>сравнение формант ударных </a:t>
            </a:r>
            <a:r>
              <a:rPr lang="ru-RU" dirty="0" smtClean="0"/>
              <a:t>гласных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ru-RU" dirty="0" smtClean="0"/>
          </a:p>
          <a:p>
            <a:r>
              <a:rPr lang="ru-RU" dirty="0" smtClean="0"/>
              <a:t>Методика включает: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</a:t>
            </a:r>
            <a:r>
              <a:rPr lang="ru-RU" b="1" dirty="0"/>
              <a:t>ф</a:t>
            </a:r>
            <a:r>
              <a:rPr lang="ru-RU" dirty="0"/>
              <a:t>ормантное «</a:t>
            </a:r>
            <a:r>
              <a:rPr lang="ru-RU" dirty="0" smtClean="0"/>
              <a:t>выравнивание»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b="1" dirty="0" smtClean="0"/>
              <a:t>с</a:t>
            </a:r>
            <a:r>
              <a:rPr lang="ru-RU" dirty="0" smtClean="0"/>
              <a:t>труктурный </a:t>
            </a:r>
            <a:r>
              <a:rPr lang="ru-RU" dirty="0"/>
              <a:t>мелодический, </a:t>
            </a:r>
            <a:r>
              <a:rPr lang="ru-RU" b="1" dirty="0"/>
              <a:t>л</a:t>
            </a:r>
            <a:r>
              <a:rPr lang="ru-RU" dirty="0"/>
              <a:t>ингвистический, </a:t>
            </a:r>
            <a:r>
              <a:rPr lang="ru-RU" b="1" dirty="0" err="1"/>
              <a:t>а</a:t>
            </a:r>
            <a:r>
              <a:rPr lang="ru-RU" dirty="0" err="1"/>
              <a:t>удитивный</a:t>
            </a:r>
            <a:r>
              <a:rPr lang="ru-RU" dirty="0"/>
              <a:t> и </a:t>
            </a:r>
            <a:r>
              <a:rPr lang="ru-RU" b="1" dirty="0"/>
              <a:t>п</a:t>
            </a:r>
            <a:r>
              <a:rPr lang="ru-RU" dirty="0"/>
              <a:t>сихологический виды анализа</a:t>
            </a:r>
          </a:p>
        </p:txBody>
      </p:sp>
    </p:spTree>
    <p:extLst>
      <p:ext uri="{BB962C8B-B14F-4D97-AF65-F5344CB8AC3E}">
        <p14:creationId xmlns:p14="http://schemas.microsoft.com/office/powerpoint/2010/main" val="33162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91728" y="282700"/>
            <a:ext cx="818359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• Введение</a:t>
            </a:r>
          </a:p>
          <a:p>
            <a:r>
              <a:rPr lang="ru-RU" dirty="0"/>
              <a:t>• «Подписка» экспертов, сведения об экспертах, поставленные вопросы, </a:t>
            </a:r>
          </a:p>
          <a:p>
            <a:r>
              <a:rPr lang="ru-RU" dirty="0"/>
              <a:t>• Предоставленные материалы</a:t>
            </a:r>
          </a:p>
          <a:p>
            <a:r>
              <a:rPr lang="ru-RU" dirty="0"/>
              <a:t>• Исследование</a:t>
            </a:r>
          </a:p>
          <a:p>
            <a:pPr lvl="1"/>
            <a:r>
              <a:rPr lang="ru-RU" dirty="0"/>
              <a:t>• Описание методики исследования</a:t>
            </a:r>
          </a:p>
          <a:p>
            <a:pPr lvl="1"/>
            <a:r>
              <a:rPr lang="ru-RU" dirty="0"/>
              <a:t>• Описание и предварительное исследование материалов</a:t>
            </a:r>
          </a:p>
          <a:p>
            <a:pPr lvl="1"/>
            <a:r>
              <a:rPr lang="ru-RU" dirty="0"/>
              <a:t>• Описание объектов исследования</a:t>
            </a:r>
          </a:p>
          <a:p>
            <a:r>
              <a:rPr lang="ru-RU" dirty="0"/>
              <a:t>• Предварительная обработка материалов:</a:t>
            </a:r>
          </a:p>
          <a:p>
            <a:pPr lvl="1"/>
            <a:r>
              <a:rPr lang="ru-RU" dirty="0"/>
              <a:t>• Локализация объектов последующего исследования</a:t>
            </a:r>
          </a:p>
          <a:p>
            <a:pPr lvl="1"/>
            <a:r>
              <a:rPr lang="ru-RU" dirty="0"/>
              <a:t>• </a:t>
            </a:r>
            <a:r>
              <a:rPr lang="ru-RU" dirty="0" err="1"/>
              <a:t>Шумоочистка</a:t>
            </a:r>
            <a:endParaRPr lang="ru-RU" dirty="0"/>
          </a:p>
          <a:p>
            <a:pPr lvl="1"/>
            <a:r>
              <a:rPr lang="ru-RU" dirty="0"/>
              <a:t>• Сегментация</a:t>
            </a:r>
          </a:p>
          <a:p>
            <a:r>
              <a:rPr lang="ru-RU" dirty="0"/>
              <a:t>• </a:t>
            </a:r>
            <a:r>
              <a:rPr lang="ru-RU" dirty="0" err="1"/>
              <a:t>Аудитивный</a:t>
            </a:r>
            <a:r>
              <a:rPr lang="ru-RU" dirty="0"/>
              <a:t> анализ</a:t>
            </a:r>
          </a:p>
          <a:p>
            <a:r>
              <a:rPr lang="ru-RU" dirty="0"/>
              <a:t>• </a:t>
            </a:r>
            <a:r>
              <a:rPr lang="ru-RU" dirty="0" err="1"/>
              <a:t>Аудитивно</a:t>
            </a:r>
            <a:r>
              <a:rPr lang="ru-RU" dirty="0"/>
              <a:t>-психологический анализ</a:t>
            </a:r>
          </a:p>
          <a:p>
            <a:r>
              <a:rPr lang="ru-RU" dirty="0"/>
              <a:t>• Лингвистический анализ</a:t>
            </a:r>
          </a:p>
          <a:p>
            <a:r>
              <a:rPr lang="ru-RU" dirty="0"/>
              <a:t>• Фонетический анализ</a:t>
            </a:r>
          </a:p>
          <a:p>
            <a:r>
              <a:rPr lang="ru-RU" dirty="0"/>
              <a:t>• Просодический анализ</a:t>
            </a:r>
          </a:p>
          <a:p>
            <a:r>
              <a:rPr lang="ru-RU" dirty="0"/>
              <a:t>• Анализ типологии мелодических контуров</a:t>
            </a:r>
          </a:p>
          <a:p>
            <a:r>
              <a:rPr lang="ru-RU" dirty="0"/>
              <a:t>• Структурный анализ мелодических контуров</a:t>
            </a:r>
          </a:p>
          <a:p>
            <a:r>
              <a:rPr lang="ru-RU" dirty="0"/>
              <a:t>• Инструментальный контроль результатов</a:t>
            </a:r>
          </a:p>
          <a:p>
            <a:r>
              <a:rPr lang="ru-RU" dirty="0"/>
              <a:t>• Синтаксический, семантический и прагматический анализ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547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39969" y="222316"/>
            <a:ext cx="818359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• </a:t>
            </a:r>
            <a:r>
              <a:rPr lang="ru-RU" b="1" dirty="0"/>
              <a:t>Инструментальный</a:t>
            </a:r>
            <a:r>
              <a:rPr lang="ru-RU" dirty="0"/>
              <a:t> анализ</a:t>
            </a:r>
          </a:p>
          <a:p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Интегральный статистический анализ речевых характеристик</a:t>
            </a:r>
          </a:p>
          <a:p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Анализ статистики ЧОТ</a:t>
            </a:r>
          </a:p>
          <a:p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Анализ статистики спектральных признаков</a:t>
            </a:r>
          </a:p>
          <a:p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Анализ статистических (Гауссовых) моделей речи дикторов</a:t>
            </a:r>
          </a:p>
          <a:p>
            <a:r>
              <a:rPr lang="ru-RU" dirty="0"/>
              <a:t>• </a:t>
            </a:r>
            <a:r>
              <a:rPr lang="ru-RU" b="1" dirty="0"/>
              <a:t>Формантный</a:t>
            </a:r>
            <a:r>
              <a:rPr lang="ru-RU" dirty="0"/>
              <a:t> анализ </a:t>
            </a:r>
          </a:p>
          <a:p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Фонемный анализ </a:t>
            </a:r>
          </a:p>
          <a:p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Гласные (ударные, безударные)</a:t>
            </a:r>
          </a:p>
          <a:p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Согласные (назальные, аффрикаты, щелевые, </a:t>
            </a:r>
            <a:r>
              <a:rPr lang="ru-RU" dirty="0" err="1"/>
              <a:t>вибранты</a:t>
            </a:r>
            <a:r>
              <a:rPr lang="ru-RU" dirty="0"/>
              <a:t>)</a:t>
            </a:r>
          </a:p>
          <a:p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Метод формантного выравнивания</a:t>
            </a:r>
          </a:p>
          <a:p>
            <a:r>
              <a:rPr lang="ru-RU" dirty="0" smtClean="0"/>
              <a:t> </a:t>
            </a:r>
            <a:endParaRPr lang="en-US" dirty="0" smtClean="0"/>
          </a:p>
          <a:p>
            <a:r>
              <a:rPr lang="ru-RU" dirty="0" smtClean="0"/>
              <a:t>Заключение</a:t>
            </a:r>
            <a:endParaRPr lang="ru-RU" dirty="0"/>
          </a:p>
          <a:p>
            <a:r>
              <a:rPr lang="ru-RU" dirty="0"/>
              <a:t>• Синтезирующее рассмотрение, формулировка выводов</a:t>
            </a:r>
          </a:p>
          <a:p>
            <a:r>
              <a:rPr lang="ru-RU" dirty="0"/>
              <a:t>• Составление заключения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0581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84671" y="1026543"/>
            <a:ext cx="1150763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В ходе инструментального анализа речевых сигналов проводится исследование </a:t>
            </a:r>
            <a:r>
              <a:rPr lang="ru-RU" sz="1600" dirty="0" smtClean="0"/>
              <a:t>статистических</a:t>
            </a:r>
            <a:r>
              <a:rPr lang="ru-RU" sz="1600" dirty="0"/>
              <a:t>,</a:t>
            </a:r>
            <a:r>
              <a:rPr lang="ru-RU" sz="1600" dirty="0" smtClean="0"/>
              <a:t> мелодических </a:t>
            </a:r>
            <a:r>
              <a:rPr lang="ru-RU" sz="1600" dirty="0"/>
              <a:t>и спектральных речевых характеристик. </a:t>
            </a:r>
            <a:endParaRPr lang="ru-RU" sz="1600" dirty="0" smtClean="0"/>
          </a:p>
          <a:p>
            <a:pPr algn="just"/>
            <a:endParaRPr lang="ru-RU" sz="1600" dirty="0"/>
          </a:p>
          <a:p>
            <a:pPr algn="just"/>
            <a:r>
              <a:rPr lang="ru-RU" sz="1600" dirty="0" smtClean="0"/>
              <a:t>В </a:t>
            </a:r>
            <a:r>
              <a:rPr lang="ru-RU" sz="1600" dirty="0"/>
              <a:t>рамках статистического спектрально-формантного </a:t>
            </a:r>
            <a:r>
              <a:rPr lang="ru-RU" sz="1600" dirty="0" smtClean="0"/>
              <a:t>анализа</a:t>
            </a:r>
            <a:r>
              <a:rPr lang="en-US" sz="1600" dirty="0" smtClean="0"/>
              <a:t> </a:t>
            </a:r>
            <a:r>
              <a:rPr lang="ru-RU" sz="1600" dirty="0" smtClean="0"/>
              <a:t>для </a:t>
            </a:r>
            <a:r>
              <a:rPr lang="ru-RU" sz="1600" dirty="0"/>
              <a:t>отрезков речевого сигнала на каждой фонограмме выделялись </a:t>
            </a:r>
            <a:r>
              <a:rPr lang="ru-RU" sz="1600" b="1" dirty="0" err="1"/>
              <a:t>микрофрагменты</a:t>
            </a:r>
            <a:r>
              <a:rPr lang="ru-RU" sz="1600" dirty="0"/>
              <a:t> с четко </a:t>
            </a:r>
            <a:r>
              <a:rPr lang="ru-RU" sz="1600" dirty="0" smtClean="0"/>
              <a:t>выраженной</a:t>
            </a:r>
            <a:r>
              <a:rPr lang="en-US" sz="1600" dirty="0" smtClean="0"/>
              <a:t> </a:t>
            </a:r>
            <a:r>
              <a:rPr lang="ru-RU" sz="1600" b="1" dirty="0" smtClean="0"/>
              <a:t>формантной</a:t>
            </a:r>
            <a:r>
              <a:rPr lang="ru-RU" sz="1600" dirty="0" smtClean="0"/>
              <a:t> </a:t>
            </a:r>
            <a:r>
              <a:rPr lang="ru-RU" sz="1600" b="1" dirty="0"/>
              <a:t>структурой</a:t>
            </a:r>
            <a:r>
              <a:rPr lang="ru-RU" sz="1600" dirty="0"/>
              <a:t> </a:t>
            </a:r>
            <a:r>
              <a:rPr lang="ru-RU" sz="1600" b="1" dirty="0"/>
              <a:t>спектра</a:t>
            </a:r>
            <a:r>
              <a:rPr lang="ru-RU" sz="1600" dirty="0"/>
              <a:t>. Далее для </a:t>
            </a:r>
            <a:r>
              <a:rPr lang="ru-RU" sz="1600" dirty="0" err="1"/>
              <a:t>микрофрагментов</a:t>
            </a:r>
            <a:r>
              <a:rPr lang="ru-RU" sz="1600" dirty="0"/>
              <a:t> каждого типа в речевом сигнале </a:t>
            </a:r>
            <a:r>
              <a:rPr lang="ru-RU" sz="1600" dirty="0" smtClean="0"/>
              <a:t>сравниваемой фонограммы </a:t>
            </a:r>
            <a:r>
              <a:rPr lang="ru-RU" sz="1600" dirty="0"/>
              <a:t>проводится поиск </a:t>
            </a:r>
            <a:r>
              <a:rPr lang="ru-RU" sz="1600" dirty="0" err="1"/>
              <a:t>микрофрагментов</a:t>
            </a:r>
            <a:r>
              <a:rPr lang="ru-RU" sz="1600" dirty="0"/>
              <a:t> с аналогичными по структуре спектрами</a:t>
            </a:r>
            <a:r>
              <a:rPr lang="ru-RU" sz="1600" dirty="0" smtClean="0"/>
              <a:t>.</a:t>
            </a:r>
          </a:p>
          <a:p>
            <a:pPr algn="just"/>
            <a:endParaRPr lang="ru-RU" sz="1600" dirty="0"/>
          </a:p>
          <a:p>
            <a:pPr algn="just"/>
            <a:r>
              <a:rPr lang="ru-RU" sz="1600" dirty="0" smtClean="0"/>
              <a:t> </a:t>
            </a:r>
            <a:r>
              <a:rPr lang="ru-RU" sz="1600" dirty="0"/>
              <a:t>Интегральная </a:t>
            </a:r>
            <a:r>
              <a:rPr lang="ru-RU" sz="1600" dirty="0" smtClean="0"/>
              <a:t>средняя </a:t>
            </a:r>
            <a:r>
              <a:rPr lang="ru-RU" sz="1600" dirty="0"/>
              <a:t>степень близости таких сопоставленных друг другу </a:t>
            </a:r>
            <a:r>
              <a:rPr lang="ru-RU" sz="1600" dirty="0" err="1"/>
              <a:t>микрофрагментов</a:t>
            </a:r>
            <a:r>
              <a:rPr lang="ru-RU" sz="1600" dirty="0"/>
              <a:t> для всего речевого сигнала </a:t>
            </a:r>
            <a:r>
              <a:rPr lang="ru-RU" sz="1600" dirty="0" smtClean="0"/>
              <a:t>сравниваемых </a:t>
            </a:r>
            <a:r>
              <a:rPr lang="ru-RU" sz="1600" dirty="0"/>
              <a:t>фонограмм являлась мерой близости сравниваемых дикторов. Если мера близости дикторов не превышает найденного на представительной речевой базе данных порога, то дикторы считаются с точки зрения </a:t>
            </a:r>
            <a:r>
              <a:rPr lang="ru-RU" sz="1600" dirty="0" smtClean="0"/>
              <a:t>данного </a:t>
            </a:r>
            <a:r>
              <a:rPr lang="ru-RU" sz="1600" dirty="0"/>
              <a:t>метода </a:t>
            </a:r>
            <a:r>
              <a:rPr lang="ru-RU" sz="1600" dirty="0" smtClean="0"/>
              <a:t>тождественными.</a:t>
            </a:r>
            <a:endParaRPr lang="ru-RU" sz="1600" dirty="0"/>
          </a:p>
          <a:p>
            <a:endParaRPr lang="ru-RU" sz="1600" dirty="0" smtClean="0"/>
          </a:p>
          <a:p>
            <a:r>
              <a:rPr lang="ru-RU" sz="1600" dirty="0" smtClean="0"/>
              <a:t>Статистические </a:t>
            </a:r>
            <a:r>
              <a:rPr lang="ru-RU" sz="1600" dirty="0"/>
              <a:t>характеристики основного тона голоса вычисляются на сопоставимых по эмоциональному состоянию фрагментах речевого сигнала не менее </a:t>
            </a:r>
            <a:r>
              <a:rPr lang="ru-RU" sz="1600" b="1" dirty="0"/>
              <a:t>30 секунд</a:t>
            </a:r>
            <a:r>
              <a:rPr lang="ru-RU" sz="1600" dirty="0"/>
              <a:t>. </a:t>
            </a:r>
            <a:endParaRPr lang="en-US" sz="1600" dirty="0" smtClean="0"/>
          </a:p>
          <a:p>
            <a:r>
              <a:rPr lang="ru-RU" sz="1600" dirty="0" smtClean="0"/>
              <a:t>Для </a:t>
            </a:r>
            <a:r>
              <a:rPr lang="ru-RU" sz="1600" dirty="0"/>
              <a:t>каждого такого отрезка определяется </a:t>
            </a:r>
            <a:r>
              <a:rPr lang="ru-RU" sz="1600" dirty="0" smtClean="0"/>
              <a:t>16</a:t>
            </a:r>
            <a:r>
              <a:rPr lang="en-US" sz="1600" dirty="0" smtClean="0"/>
              <a:t> </a:t>
            </a:r>
            <a:r>
              <a:rPr lang="ru-RU" sz="1600" dirty="0" smtClean="0"/>
              <a:t>основных </a:t>
            </a:r>
            <a:r>
              <a:rPr lang="ru-RU" sz="1600" dirty="0"/>
              <a:t>статистических характеристик частоты основного тона голоса </a:t>
            </a:r>
            <a:r>
              <a:rPr lang="en-US" sz="1600" dirty="0"/>
              <a:t>:</a:t>
            </a:r>
            <a:endParaRPr lang="ru-RU" sz="1600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sz="1600" dirty="0" smtClean="0"/>
              <a:t>статистические </a:t>
            </a:r>
            <a:r>
              <a:rPr lang="ru-RU" sz="1600" dirty="0"/>
              <a:t>моменты частоты </a:t>
            </a:r>
            <a:r>
              <a:rPr lang="ru-RU" sz="1600" dirty="0" smtClean="0"/>
              <a:t>тона</a:t>
            </a:r>
            <a:r>
              <a:rPr lang="en-US" sz="1600" dirty="0" smtClean="0"/>
              <a:t> </a:t>
            </a:r>
            <a:r>
              <a:rPr lang="ru-RU" sz="1600" dirty="0" smtClean="0"/>
              <a:t>и </a:t>
            </a:r>
            <a:r>
              <a:rPr lang="ru-RU" sz="1600" dirty="0"/>
              <a:t>его </a:t>
            </a:r>
            <a:r>
              <a:rPr lang="ru-RU" sz="1600" dirty="0" smtClean="0"/>
              <a:t>производной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sz="1600" dirty="0" smtClean="0"/>
              <a:t> дисперсия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sz="1600" dirty="0" smtClean="0"/>
              <a:t> </a:t>
            </a:r>
            <a:r>
              <a:rPr lang="ru-RU" sz="1600" dirty="0"/>
              <a:t>максимальные и минимальные </a:t>
            </a:r>
            <a:r>
              <a:rPr lang="ru-RU" sz="1600" dirty="0" smtClean="0"/>
              <a:t>значения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sz="1600" dirty="0" smtClean="0"/>
              <a:t>основные </a:t>
            </a:r>
            <a:r>
              <a:rPr lang="ru-RU" sz="1600" dirty="0"/>
              <a:t>параметры </a:t>
            </a:r>
            <a:r>
              <a:rPr lang="ru-RU" sz="1600" dirty="0" smtClean="0"/>
              <a:t>гистограммы</a:t>
            </a:r>
            <a:endParaRPr lang="ru-RU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767751" y="500332"/>
            <a:ext cx="377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err="1" smtClean="0"/>
              <a:t>Микрофрагменты</a:t>
            </a:r>
            <a:r>
              <a:rPr lang="ru-RU" dirty="0" smtClean="0"/>
              <a:t>. Их спектры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617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84671" y="1026543"/>
            <a:ext cx="115076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/>
              <a:t>Далее </a:t>
            </a:r>
            <a:r>
              <a:rPr lang="ru-RU" sz="1600" dirty="0"/>
              <a:t>совокупность полученных характеристик сравнивалась между собой для фонограмм образцов и </a:t>
            </a:r>
            <a:r>
              <a:rPr lang="ru-RU" sz="1600" dirty="0" smtClean="0"/>
              <a:t>спорной</a:t>
            </a:r>
            <a:r>
              <a:rPr lang="en-US" sz="1600" dirty="0" smtClean="0"/>
              <a:t> </a:t>
            </a:r>
            <a:r>
              <a:rPr lang="ru-RU" sz="1600" dirty="0" smtClean="0"/>
              <a:t>фонограммы</a:t>
            </a:r>
            <a:r>
              <a:rPr lang="ru-RU" sz="1600" dirty="0"/>
              <a:t>. Если мера близости статистических характеристик </a:t>
            </a:r>
            <a:r>
              <a:rPr lang="ru-RU" sz="1600" b="1" dirty="0" smtClean="0"/>
              <a:t>частоты</a:t>
            </a:r>
            <a:r>
              <a:rPr lang="ru-RU" sz="1600" dirty="0" smtClean="0"/>
              <a:t> </a:t>
            </a:r>
            <a:r>
              <a:rPr lang="ru-RU" sz="1600" b="1" dirty="0"/>
              <a:t>тона</a:t>
            </a:r>
            <a:r>
              <a:rPr lang="ru-RU" sz="1600" dirty="0"/>
              <a:t> голоса дикторов не </a:t>
            </a:r>
            <a:r>
              <a:rPr lang="ru-RU" sz="1600" dirty="0" smtClean="0"/>
              <a:t>превышает</a:t>
            </a:r>
            <a:r>
              <a:rPr lang="en-US" sz="1600" dirty="0" smtClean="0"/>
              <a:t> </a:t>
            </a:r>
            <a:r>
              <a:rPr lang="ru-RU" sz="1600" dirty="0" smtClean="0"/>
              <a:t>найденного </a:t>
            </a:r>
            <a:r>
              <a:rPr lang="ru-RU" sz="1600" dirty="0"/>
              <a:t>на представительной речевой базе данных порога, то дикторы считаются с точки зрения </a:t>
            </a:r>
            <a:r>
              <a:rPr lang="ru-RU" sz="1600" dirty="0" smtClean="0"/>
              <a:t>данного  метода тождественными</a:t>
            </a:r>
            <a:endParaRPr lang="ru-RU" sz="1600" dirty="0"/>
          </a:p>
          <a:p>
            <a:endParaRPr lang="ru-RU" sz="1600" dirty="0" smtClean="0"/>
          </a:p>
          <a:p>
            <a:pPr algn="just"/>
            <a:r>
              <a:rPr lang="ru-RU" sz="1600" dirty="0" smtClean="0"/>
              <a:t>Для </a:t>
            </a:r>
            <a:r>
              <a:rPr lang="ru-RU" sz="1600" dirty="0"/>
              <a:t>автоматического инструментального сравнения дикторов используется также метод на основе</a:t>
            </a:r>
          </a:p>
          <a:p>
            <a:pPr algn="just"/>
            <a:r>
              <a:rPr lang="ru-RU" sz="1600" dirty="0"/>
              <a:t>построения гауссовых статистических моделей параметрического представления речевого сигнала </a:t>
            </a:r>
            <a:r>
              <a:rPr lang="ru-RU" sz="1600" dirty="0" smtClean="0"/>
              <a:t>.</a:t>
            </a:r>
            <a:endParaRPr lang="ru-RU" sz="1600" dirty="0"/>
          </a:p>
          <a:p>
            <a:pPr algn="just"/>
            <a:r>
              <a:rPr lang="ru-RU" sz="1600" dirty="0"/>
              <a:t>Сравнение таких моделей позволяет определить тождество/различие дикторов с точки зрения совпадения </a:t>
            </a:r>
            <a:r>
              <a:rPr lang="ru-RU" sz="1600" dirty="0" smtClean="0"/>
              <a:t>статистик</a:t>
            </a:r>
            <a:endParaRPr lang="ru-RU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767751" y="500332"/>
            <a:ext cx="377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err="1" smtClean="0"/>
              <a:t>Микрофрагменты</a:t>
            </a:r>
            <a:r>
              <a:rPr lang="ru-RU" dirty="0" smtClean="0"/>
              <a:t>. Их спектры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755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</a:t>
            </a:r>
            <a:r>
              <a:rPr lang="ru-RU" dirty="0" smtClean="0"/>
              <a:t>ппаратно-программные средства </a:t>
            </a:r>
            <a:r>
              <a:rPr lang="ru-RU" dirty="0"/>
              <a:t>криминалистического исследования фонограмм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70293" y="2140909"/>
            <a:ext cx="116629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проведении криминалистического исследования фонограмм </a:t>
            </a:r>
            <a:r>
              <a:rPr lang="ru-RU" dirty="0" smtClean="0"/>
              <a:t>важны как используемые инструментальные средства </a:t>
            </a:r>
            <a:r>
              <a:rPr lang="ru-RU" dirty="0"/>
              <a:t>анализа акустических сигналов аудиозаписей, </a:t>
            </a:r>
            <a:r>
              <a:rPr lang="ru-RU" dirty="0" smtClean="0"/>
              <a:t> так и использование </a:t>
            </a:r>
            <a:r>
              <a:rPr lang="ru-RU" dirty="0"/>
              <a:t>новых высокоточных методов анализа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Надежность </a:t>
            </a:r>
            <a:r>
              <a:rPr lang="ru-RU" dirty="0"/>
              <a:t>систем идентификации диктора по голосу также зависит от точности программных средств выделения информационных параметров речи при статистической обработке акустических сигналов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70293" y="4095462"/>
            <a:ext cx="111769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</a:t>
            </a:r>
            <a:r>
              <a:rPr lang="ru-RU" dirty="0" smtClean="0"/>
              <a:t>етодика </a:t>
            </a:r>
            <a:r>
              <a:rPr lang="ru-RU" dirty="0"/>
              <a:t>идентификации дикторов «</a:t>
            </a:r>
            <a:r>
              <a:rPr lang="ru-RU" b="1" dirty="0"/>
              <a:t>Диалект</a:t>
            </a:r>
            <a:r>
              <a:rPr lang="ru-RU" dirty="0"/>
              <a:t>» </a:t>
            </a:r>
            <a:r>
              <a:rPr lang="ru-RU" dirty="0" smtClean="0"/>
              <a:t>включает </a:t>
            </a:r>
            <a:r>
              <a:rPr lang="ru-RU" dirty="0"/>
              <a:t>в себя на этапе инструментального анализа сравнение статистик основного тона голоса и </a:t>
            </a:r>
            <a:r>
              <a:rPr lang="ru-RU" dirty="0" smtClean="0"/>
              <a:t>формант</a:t>
            </a:r>
            <a:r>
              <a:rPr lang="ru-RU" dirty="0" smtClean="0"/>
              <a:t>. Исследуются гласные, используется преобразование   Фурье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70293" y="5018792"/>
            <a:ext cx="4360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 «</a:t>
            </a:r>
            <a:r>
              <a:rPr lang="ru-RU" b="1" dirty="0" err="1"/>
              <a:t>ИкарЛаб</a:t>
            </a:r>
            <a:r>
              <a:rPr lang="ru-RU" dirty="0"/>
              <a:t>», «</a:t>
            </a:r>
            <a:r>
              <a:rPr lang="en-US" b="1" dirty="0" err="1"/>
              <a:t>Justiphone</a:t>
            </a:r>
            <a:r>
              <a:rPr lang="en-US" dirty="0"/>
              <a:t>», «</a:t>
            </a:r>
            <a:r>
              <a:rPr lang="ru-RU" b="1" dirty="0"/>
              <a:t>ОТЕ</a:t>
            </a:r>
            <a:r>
              <a:rPr lang="en-US" b="1" dirty="0" err="1"/>
              <a:t>xpert</a:t>
            </a:r>
            <a:r>
              <a:rPr lang="en-US" dirty="0"/>
              <a:t>»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70293" y="5285284"/>
            <a:ext cx="115939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этапе предварительного анализа фонограмм используются звуковые </a:t>
            </a:r>
            <a:r>
              <a:rPr lang="ru-RU" dirty="0" err="1"/>
              <a:t>редакторы</a:t>
            </a:r>
            <a:r>
              <a:rPr lang="ru-RU" dirty="0"/>
              <a:t>: </a:t>
            </a:r>
            <a:r>
              <a:rPr lang="en-US" b="1" dirty="0"/>
              <a:t>Adobe</a:t>
            </a:r>
            <a:r>
              <a:rPr lang="en-US" dirty="0"/>
              <a:t> </a:t>
            </a:r>
            <a:r>
              <a:rPr lang="en-US" b="1" dirty="0"/>
              <a:t>Audition</a:t>
            </a:r>
            <a:r>
              <a:rPr lang="en-US" dirty="0"/>
              <a:t>, </a:t>
            </a:r>
            <a:r>
              <a:rPr lang="en-US" b="1" dirty="0" err="1"/>
              <a:t>AWave</a:t>
            </a:r>
            <a:r>
              <a:rPr lang="en-US" dirty="0"/>
              <a:t>, </a:t>
            </a:r>
            <a:r>
              <a:rPr lang="en-US" b="1" dirty="0"/>
              <a:t>Cool</a:t>
            </a:r>
            <a:r>
              <a:rPr lang="en-US" dirty="0"/>
              <a:t> </a:t>
            </a:r>
            <a:r>
              <a:rPr lang="en-US" b="1" dirty="0"/>
              <a:t>Edit</a:t>
            </a:r>
            <a:r>
              <a:rPr lang="en-US" dirty="0"/>
              <a:t>, </a:t>
            </a:r>
            <a:r>
              <a:rPr lang="en-US" b="1" dirty="0"/>
              <a:t>Sound</a:t>
            </a:r>
            <a:r>
              <a:rPr lang="en-US" dirty="0"/>
              <a:t> </a:t>
            </a:r>
            <a:r>
              <a:rPr lang="en-US" b="1" dirty="0"/>
              <a:t>Forge</a:t>
            </a:r>
            <a:r>
              <a:rPr lang="en-US" dirty="0"/>
              <a:t>, </a:t>
            </a:r>
            <a:r>
              <a:rPr lang="en-US" b="1" dirty="0"/>
              <a:t>Speech</a:t>
            </a:r>
            <a:r>
              <a:rPr lang="en-US" dirty="0"/>
              <a:t> </a:t>
            </a:r>
            <a:r>
              <a:rPr lang="en-US" b="1" dirty="0"/>
              <a:t>Analyzer</a:t>
            </a:r>
            <a:r>
              <a:rPr lang="en-US" dirty="0"/>
              <a:t>, </a:t>
            </a:r>
            <a:r>
              <a:rPr lang="en-US" b="1" dirty="0"/>
              <a:t>Steinberg</a:t>
            </a:r>
            <a:r>
              <a:rPr lang="en-US" dirty="0"/>
              <a:t> </a:t>
            </a:r>
            <a:r>
              <a:rPr lang="en-US" b="1" dirty="0" err="1"/>
              <a:t>WaveLab</a:t>
            </a:r>
            <a:r>
              <a:rPr lang="en-US" dirty="0"/>
              <a:t>, </a:t>
            </a:r>
            <a:r>
              <a:rPr lang="en-US" b="1" dirty="0"/>
              <a:t>Wave</a:t>
            </a:r>
            <a:r>
              <a:rPr lang="en-US" dirty="0"/>
              <a:t> </a:t>
            </a:r>
            <a:r>
              <a:rPr lang="en-US" b="1" dirty="0"/>
              <a:t>Flow</a:t>
            </a:r>
            <a:r>
              <a:rPr lang="en-US" dirty="0"/>
              <a:t>, </a:t>
            </a:r>
            <a:r>
              <a:rPr lang="en-US" b="1" dirty="0" err="1"/>
              <a:t>WaveLab</a:t>
            </a:r>
            <a:r>
              <a:rPr lang="en-US" dirty="0"/>
              <a:t>, </a:t>
            </a:r>
            <a:r>
              <a:rPr lang="ru-RU" dirty="0"/>
              <a:t>в которых </a:t>
            </a:r>
            <a:r>
              <a:rPr lang="ru-RU" b="1" dirty="0"/>
              <a:t>частотно-временные представления речевого сигнала </a:t>
            </a:r>
            <a:r>
              <a:rPr lang="ru-RU" dirty="0"/>
              <a:t>или динамические спектрограммы также строятся с использованием </a:t>
            </a:r>
            <a:r>
              <a:rPr lang="ru-RU" dirty="0" err="1"/>
              <a:t>алгоритма</a:t>
            </a:r>
            <a:r>
              <a:rPr lang="ru-RU" dirty="0"/>
              <a:t> БПФ.</a:t>
            </a:r>
          </a:p>
        </p:txBody>
      </p:sp>
    </p:spTree>
    <p:extLst>
      <p:ext uri="{BB962C8B-B14F-4D97-AF65-F5344CB8AC3E}">
        <p14:creationId xmlns:p14="http://schemas.microsoft.com/office/powerpoint/2010/main" val="415531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16943" y="1387271"/>
            <a:ext cx="104523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(СПО) </a:t>
            </a:r>
            <a:r>
              <a:rPr lang="ru-RU" b="1" dirty="0" err="1"/>
              <a:t>WaveView</a:t>
            </a:r>
            <a:r>
              <a:rPr lang="ru-RU" dirty="0"/>
              <a:t> высокоточного </a:t>
            </a:r>
            <a:r>
              <a:rPr lang="ru-RU" dirty="0" err="1"/>
              <a:t>вейвлет</a:t>
            </a:r>
            <a:r>
              <a:rPr lang="ru-RU" dirty="0"/>
              <a:t>-анализа с последующим построением изображений «видимый звук» или </a:t>
            </a:r>
            <a:r>
              <a:rPr lang="ru-RU" dirty="0" err="1"/>
              <a:t>сонограмм</a:t>
            </a:r>
            <a:r>
              <a:rPr lang="ru-RU" dirty="0"/>
              <a:t>. Первая версия СПО WaveView-1 разработана в 2002 г</a:t>
            </a:r>
            <a:r>
              <a:rPr lang="ru-RU" dirty="0" smtClean="0"/>
              <a:t>. </a:t>
            </a:r>
            <a:r>
              <a:rPr lang="ru-RU" b="1" dirty="0" smtClean="0"/>
              <a:t>WaveView-4</a:t>
            </a:r>
            <a:r>
              <a:rPr lang="ru-RU" dirty="0" smtClean="0"/>
              <a:t> </a:t>
            </a:r>
            <a:r>
              <a:rPr lang="ru-RU" dirty="0"/>
              <a:t>является последней версией ПО семейства </a:t>
            </a:r>
            <a:r>
              <a:rPr lang="ru-RU" dirty="0" err="1"/>
              <a:t>вейвлет</a:t>
            </a:r>
            <a:r>
              <a:rPr lang="ru-RU" dirty="0"/>
              <a:t>-анализа сигналов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2994711"/>
            <a:ext cx="63404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В </a:t>
            </a:r>
            <a:r>
              <a:rPr lang="ru-RU" dirty="0"/>
              <a:t>то же время, несмотря на предлагаемые более точные решения по разложению речевого сигнала, в большинстве современных комплексов при решении задачи идентификации диктора выделение акустических признаков основывается на методе спектрального анализа с использованием быстрого преобразования Фурье (БПФ)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340414" y="2856211"/>
            <a:ext cx="552090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Множество акустических признаков голоса и речи исследуемого диктора может быть представлено в виде совокупности фонетических (акустических) классов: гласные звуки (ударные, безударные) и согласные (назальные, аффрикаты, щелевые и др.). </a:t>
            </a:r>
            <a:endParaRPr lang="ru-RU" dirty="0" smtClean="0"/>
          </a:p>
          <a:p>
            <a:pPr algn="just"/>
            <a:endParaRPr lang="ru-RU" dirty="0"/>
          </a:p>
          <a:p>
            <a:pPr algn="just"/>
            <a:r>
              <a:rPr lang="ru-RU" dirty="0" smtClean="0"/>
              <a:t>Эти </a:t>
            </a:r>
            <a:r>
              <a:rPr lang="ru-RU" dirty="0"/>
              <a:t>акустические классы отражают артикуляторные особенности речи диктора, а также конфигурацию его речевого тракта. </a:t>
            </a:r>
          </a:p>
        </p:txBody>
      </p:sp>
    </p:spTree>
    <p:extLst>
      <p:ext uri="{BB962C8B-B14F-4D97-AF65-F5344CB8AC3E}">
        <p14:creationId xmlns:p14="http://schemas.microsoft.com/office/powerpoint/2010/main" val="3294634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5488" t="33535" r="25821" b="13981"/>
          <a:stretch/>
        </p:blipFill>
        <p:spPr>
          <a:xfrm>
            <a:off x="905773" y="534836"/>
            <a:ext cx="9963510" cy="604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0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25493" t="44074" r="26583" b="4806"/>
          <a:stretch/>
        </p:blipFill>
        <p:spPr>
          <a:xfrm>
            <a:off x="1466491" y="672860"/>
            <a:ext cx="9118120" cy="547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51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5235" t="34705" r="26074" b="5144"/>
          <a:stretch/>
        </p:blipFill>
        <p:spPr>
          <a:xfrm>
            <a:off x="1216324" y="646982"/>
            <a:ext cx="9083616" cy="631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72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5834" t="28981" r="26242" b="12231"/>
          <a:stretch/>
        </p:blipFill>
        <p:spPr>
          <a:xfrm>
            <a:off x="664234" y="129397"/>
            <a:ext cx="9316528" cy="64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11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2053" y="243921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ИНСТРУМЕНТАЛЬНОЕ ИССЛЕДОВАНИЕ ФОНОГРАММ С ИСПОЛЬЗОВАНИЕМ ПРОГРАММНЫХ СРЕДСТВ МНОГОУРОВНЕВОГО ВЕЙВЛЕТ-АНАЛИЗА СИГНАЛОВ Ю. Г. Горшков Московский государственный технический университет имени Н. Э. Баумана Москва, Россия E-</a:t>
            </a:r>
            <a:r>
              <a:rPr lang="ru-RU" dirty="0" err="1"/>
              <a:t>mail</a:t>
            </a:r>
            <a:r>
              <a:rPr lang="ru-RU" dirty="0"/>
              <a:t>: YGorshkov@rambler.ru</a:t>
            </a:r>
          </a:p>
        </p:txBody>
      </p:sp>
    </p:spTree>
    <p:extLst>
      <p:ext uri="{BB962C8B-B14F-4D97-AF65-F5344CB8AC3E}">
        <p14:creationId xmlns:p14="http://schemas.microsoft.com/office/powerpoint/2010/main" val="1094159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5038812" cy="2283824"/>
          </a:xfrm>
        </p:spPr>
        <p:txBody>
          <a:bodyPr/>
          <a:lstStyle/>
          <a:p>
            <a:r>
              <a:rPr lang="ru-RU" dirty="0" smtClean="0"/>
              <a:t>Диагностические </a:t>
            </a:r>
            <a:r>
              <a:rPr lang="ru-RU" dirty="0" smtClean="0"/>
              <a:t>признаки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Обзор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2336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Варианты наборов признаков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84673" y="1957631"/>
            <a:ext cx="60816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Частота основного тона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Три формантные частоты на переходных участках гласных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Три формантные частоты на </a:t>
            </a:r>
            <a:r>
              <a:rPr lang="ru-RU" dirty="0" smtClean="0"/>
              <a:t>стационарных </a:t>
            </a:r>
            <a:r>
              <a:rPr lang="ru-RU" dirty="0"/>
              <a:t>участках </a:t>
            </a:r>
            <a:r>
              <a:rPr lang="ru-RU" dirty="0" smtClean="0"/>
              <a:t>гласных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Параметры огибающей спектра фрикативных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Общая длительность слова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Относительные длительности сегментов речи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/>
          </a:p>
          <a:p>
            <a:r>
              <a:rPr lang="ru-RU" b="1" dirty="0" smtClean="0"/>
              <a:t>Малая различающая способность, легко имитировать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791865" y="2439577"/>
            <a:ext cx="51125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Частота основного тона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Ф</a:t>
            </a:r>
            <a:r>
              <a:rPr lang="ru-RU" dirty="0" smtClean="0"/>
              <a:t>ормантные </a:t>
            </a:r>
            <a:r>
              <a:rPr lang="ru-RU" dirty="0" smtClean="0"/>
              <a:t>частоты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Размер флюктуаций частоты основного тона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Наклон спектра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Устойчивость признаков</a:t>
            </a:r>
          </a:p>
          <a:p>
            <a:endParaRPr lang="ru-RU" dirty="0"/>
          </a:p>
          <a:p>
            <a:r>
              <a:rPr lang="ru-RU" b="1" dirty="0" smtClean="0"/>
              <a:t>Малая различающая способность, легко имитировать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84673" y="5160850"/>
            <a:ext cx="5477772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Наиболее важный фактор – формантные частоты, в частности, </a:t>
            </a:r>
            <a:r>
              <a:rPr lang="ru-RU" b="1" dirty="0" smtClean="0"/>
              <a:t>четвертая</a:t>
            </a:r>
            <a:r>
              <a:rPr lang="ru-RU" dirty="0" smtClean="0"/>
              <a:t> </a:t>
            </a:r>
            <a:r>
              <a:rPr lang="ru-RU" b="1" dirty="0" smtClean="0"/>
              <a:t>форманта</a:t>
            </a:r>
            <a:r>
              <a:rPr lang="ru-RU" dirty="0" smtClean="0"/>
              <a:t>, которая практически не зависит от типа фонемы и характеризует тракт 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6366294" y="5276013"/>
            <a:ext cx="5727939" cy="1015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Ручной анализ полностью устранить невозможно, ответственность за принятие решений принимает </a:t>
            </a:r>
            <a:r>
              <a:rPr lang="ru-RU" dirty="0" smtClean="0"/>
              <a:t>эксперт</a:t>
            </a:r>
            <a:r>
              <a:rPr lang="ru-RU" sz="2400" b="1" dirty="0" smtClean="0">
                <a:solidFill>
                  <a:srgbClr val="FF0000"/>
                </a:solidFill>
              </a:rPr>
              <a:t>!!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581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Выделение </a:t>
            </a:r>
            <a:r>
              <a:rPr lang="ru-RU" dirty="0" err="1" smtClean="0"/>
              <a:t>фрмант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154955" y="2734574"/>
            <a:ext cx="9602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Просматривается спектрограмма, ищутся участки речевого спектра с ярко выраженной формантной картиной при наличии четвертой и более высоких формант. Обычно минимальная единица анализа – слог. На звукозаписи должен звучать голос только одного диктора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2815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выделяемых и сравниваемых признаков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41540" y="2812211"/>
            <a:ext cx="118181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Интегральные признаки </a:t>
            </a:r>
            <a:r>
              <a:rPr lang="ru-RU" b="1" dirty="0" smtClean="0"/>
              <a:t>усредненного</a:t>
            </a:r>
            <a:r>
              <a:rPr lang="ru-RU" dirty="0" smtClean="0"/>
              <a:t> спектра мощности, кросскорреляционного спектра, спектры более высокого прядка, среднего спектра отдельных фрагментов фонограмм для относительно длительного (около 10 с) суммарного звучания исследуемых голосов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Формантные спектры фонетически </a:t>
            </a:r>
            <a:r>
              <a:rPr lang="ru-RU" b="1" dirty="0" smtClean="0"/>
              <a:t>одинаковых</a:t>
            </a:r>
            <a:r>
              <a:rPr lang="ru-RU" dirty="0" smtClean="0"/>
              <a:t> звуков (ударные гласные, гласные </a:t>
            </a:r>
            <a:r>
              <a:rPr lang="ru-RU" dirty="0" smtClean="0"/>
              <a:t>равной </a:t>
            </a:r>
            <a:r>
              <a:rPr lang="ru-RU" dirty="0" smtClean="0"/>
              <a:t>степени редукции и т.д.) Иногда такой подход называют формантный </a:t>
            </a:r>
            <a:r>
              <a:rPr lang="ru-RU" b="1" dirty="0" smtClean="0"/>
              <a:t>микроанализ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Формантные спектры подобных артикуляторных </a:t>
            </a:r>
            <a:r>
              <a:rPr lang="ru-RU" b="1" dirty="0" smtClean="0"/>
              <a:t>событий</a:t>
            </a:r>
            <a:r>
              <a:rPr lang="ru-RU" dirty="0" smtClean="0"/>
              <a:t>: мгновенные спектральные срезы; динамические структуры формант внутри звука, слога, слова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Специфика спектрально-формантных структур, реализующих одинаковые артикуляторные </a:t>
            </a:r>
            <a:r>
              <a:rPr lang="ru-RU" b="1" dirty="0" smtClean="0"/>
              <a:t>динамические</a:t>
            </a:r>
            <a:r>
              <a:rPr lang="ru-RU" dirty="0" smtClean="0"/>
              <a:t> </a:t>
            </a:r>
            <a:r>
              <a:rPr lang="ru-RU" b="1" dirty="0" smtClean="0"/>
              <a:t>явления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Спектрально-гармонические характеристики </a:t>
            </a:r>
            <a:r>
              <a:rPr lang="ru-RU" dirty="0" err="1" smtClean="0"/>
              <a:t>ларингального</a:t>
            </a:r>
            <a:r>
              <a:rPr lang="ru-RU" dirty="0" smtClean="0"/>
              <a:t> </a:t>
            </a:r>
            <a:r>
              <a:rPr lang="ru-RU" b="1" dirty="0" smtClean="0"/>
              <a:t>тембра</a:t>
            </a:r>
            <a:r>
              <a:rPr lang="ru-RU" dirty="0" smtClean="0"/>
              <a:t> голоса для </a:t>
            </a:r>
            <a:r>
              <a:rPr lang="ru-RU" dirty="0" err="1" smtClean="0"/>
              <a:t>просодически</a:t>
            </a:r>
            <a:r>
              <a:rPr lang="ru-RU" dirty="0" smtClean="0"/>
              <a:t> подобных событий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Спектры и их </a:t>
            </a:r>
            <a:r>
              <a:rPr lang="ru-RU" b="1" dirty="0" smtClean="0"/>
              <a:t>динамика</a:t>
            </a:r>
            <a:r>
              <a:rPr lang="ru-RU" dirty="0" smtClean="0"/>
              <a:t> </a:t>
            </a:r>
            <a:r>
              <a:rPr lang="ru-RU" b="1" dirty="0" smtClean="0"/>
              <a:t>внутри</a:t>
            </a:r>
            <a:r>
              <a:rPr lang="ru-RU" dirty="0" smtClean="0"/>
              <a:t> </a:t>
            </a:r>
            <a:r>
              <a:rPr lang="ru-RU" b="1" dirty="0" smtClean="0"/>
              <a:t>периода</a:t>
            </a:r>
            <a:r>
              <a:rPr lang="ru-RU" dirty="0" smtClean="0"/>
              <a:t> </a:t>
            </a:r>
            <a:r>
              <a:rPr lang="ru-RU" b="1" dirty="0" smtClean="0"/>
              <a:t>основного</a:t>
            </a:r>
            <a:r>
              <a:rPr lang="ru-RU" dirty="0" smtClean="0"/>
              <a:t> </a:t>
            </a:r>
            <a:r>
              <a:rPr lang="ru-RU" b="1" dirty="0" smtClean="0"/>
              <a:t>тона</a:t>
            </a:r>
            <a:r>
              <a:rPr lang="ru-RU" dirty="0" smtClean="0"/>
              <a:t> голоса для сопоставимых фаз смыкания / размыкания голосовых складок для сопоставимых речевых фрагментов</a:t>
            </a: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37448" y="2329131"/>
            <a:ext cx="4134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FF0000"/>
                </a:solidFill>
              </a:rPr>
              <a:t>С Р А В Н И В А Ю Т С Я:</a:t>
            </a:r>
            <a:endParaRPr lang="ru-RU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910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Кратность частот формант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260502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Отобразив результаты БПФ для данного момента времени, получаем </a:t>
            </a:r>
            <a:r>
              <a:rPr lang="ru-RU" dirty="0" smtClean="0"/>
              <a:t>графическое </a:t>
            </a:r>
            <a:r>
              <a:rPr lang="ru-RU" dirty="0"/>
              <a:t>представление моментального спектра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01328" y="3607165"/>
            <a:ext cx="985136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Одной из особенностей речевого сигнала является кратность частот </a:t>
            </a:r>
            <a:r>
              <a:rPr lang="ru-RU" dirty="0" smtClean="0"/>
              <a:t>формант </a:t>
            </a:r>
            <a:r>
              <a:rPr lang="ru-RU" dirty="0"/>
              <a:t>в случае узкополосного анализатора, т.е. частота следующей форманты больше частоты предыдущей на величину, равную частоте первой форманты: </a:t>
            </a:r>
            <a:endParaRPr lang="en-US" dirty="0"/>
          </a:p>
          <a:p>
            <a:r>
              <a:rPr lang="ru-RU" dirty="0" smtClean="0"/>
              <a:t> </a:t>
            </a:r>
            <a:r>
              <a:rPr lang="ru-RU" dirty="0"/>
              <a:t>Данная особенность дает возможность практически исключить </a:t>
            </a:r>
            <a:r>
              <a:rPr lang="ru-RU" dirty="0" smtClean="0"/>
              <a:t>нахождение </a:t>
            </a:r>
            <a:r>
              <a:rPr lang="ru-RU" dirty="0"/>
              <a:t>ложных формант и существенно сократить количество выполняемых </a:t>
            </a:r>
            <a:r>
              <a:rPr lang="ru-RU" dirty="0" smtClean="0"/>
              <a:t>операций</a:t>
            </a:r>
            <a:r>
              <a:rPr lang="ru-RU" dirty="0"/>
              <a:t>, т.к. после нахождения </a:t>
            </a:r>
            <a:r>
              <a:rPr lang="ru-RU" b="1" dirty="0"/>
              <a:t>можно лишь проверять наличие пика в точках ожидания, вычисленных по </a:t>
            </a:r>
            <a:r>
              <a:rPr lang="ru-RU" b="1" dirty="0" smtClean="0"/>
              <a:t>формуле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dirty="0"/>
              <a:t>Еще одна особенность речевого сигнала заключается в том, что первая форманта, в основном, лежит в диапазоне от 70 Гц до 300 Гц. Сочетание этих особенностей с учетом отношения амплитуд истинных формант к остальным пикам позволяет практически исключить ложные </a:t>
            </a:r>
            <a:r>
              <a:rPr lang="ru-RU" dirty="0" smtClean="0"/>
              <a:t>пики.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414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69343" y="3105835"/>
            <a:ext cx="9834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</a:t>
            </a:r>
            <a:r>
              <a:rPr lang="ru-RU" dirty="0"/>
              <a:t>. Н. </a:t>
            </a:r>
            <a:r>
              <a:rPr lang="ru-RU" dirty="0" err="1"/>
              <a:t>Поздин</a:t>
            </a:r>
            <a:r>
              <a:rPr lang="ru-RU" dirty="0"/>
              <a:t>, М. Г. Хохлов РАСЧЕТ ФОРМАНТ ПО УЧАСТКУ РЕЧЕВОГО СИГНАЛА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44746" y="4087339"/>
            <a:ext cx="10935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 качестве аудио-материала можно использовать любые доступные аудио. </a:t>
            </a:r>
            <a:r>
              <a:rPr lang="ru-RU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Были взяты отрывки из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базы </a:t>
            </a:r>
            <a:r>
              <a:rPr lang="ru-RU" u="sng" dirty="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RAMAS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— </a:t>
            </a: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мультимодального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датасета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, созданного при участии актеров ВГИК. Можно также воспользоваться материалом из других открытых баз, например </a:t>
            </a:r>
            <a:r>
              <a:rPr lang="ru-RU" u="sng" dirty="0" err="1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LibriSpeech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или </a:t>
            </a:r>
            <a:r>
              <a:rPr lang="ru-RU" u="sng" dirty="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RAVDESS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310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451</TotalTime>
  <Words>1088</Words>
  <Application>Microsoft Office PowerPoint</Application>
  <PresentationFormat>Широкоэкранный</PresentationFormat>
  <Paragraphs>115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Century Gothic</vt:lpstr>
      <vt:lpstr>Courier New</vt:lpstr>
      <vt:lpstr>Times New Roman</vt:lpstr>
      <vt:lpstr>Wingdings</vt:lpstr>
      <vt:lpstr>Wingdings 3</vt:lpstr>
      <vt:lpstr>Ион (конференц-зал)</vt:lpstr>
      <vt:lpstr>Инструментальные средства в криминалистической идентификации дикторов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Аппаратно-программные средства криминалистического исследования фонограмм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Литература</vt:lpstr>
      <vt:lpstr>Диагностические признаки</vt:lpstr>
      <vt:lpstr>Варианты наборов признаков</vt:lpstr>
      <vt:lpstr>Выделение фрмант</vt:lpstr>
      <vt:lpstr>Типы выделяемых и сравниваемых признаков</vt:lpstr>
      <vt:lpstr>Кратность частот формант</vt:lpstr>
      <vt:lpstr>Литература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</dc:creator>
  <cp:lastModifiedBy>Админ</cp:lastModifiedBy>
  <cp:revision>24</cp:revision>
  <dcterms:created xsi:type="dcterms:W3CDTF">2024-11-11T18:26:51Z</dcterms:created>
  <dcterms:modified xsi:type="dcterms:W3CDTF">2024-11-22T19:32:57Z</dcterms:modified>
</cp:coreProperties>
</file>