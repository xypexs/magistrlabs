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3" r:id="rId5"/>
    <p:sldId id="262" r:id="rId6"/>
    <p:sldId id="257" r:id="rId7"/>
    <p:sldId id="259" r:id="rId8"/>
    <p:sldId id="260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57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6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20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6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4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96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32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81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17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01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02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CB4EA-0F19-4D96-97D5-75155C3934E7}" type="datetimeFigureOut">
              <a:rPr lang="ru-RU" smtClean="0"/>
              <a:t>22.11.2024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285F3-FFDC-4813-989A-E984209195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747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Распознавание дикторов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 smtClean="0"/>
              <a:t>РГАТУ</a:t>
            </a:r>
          </a:p>
          <a:p>
            <a:pPr algn="r"/>
            <a:r>
              <a:rPr lang="ru-RU" dirty="0" smtClean="0"/>
              <a:t>Т. П. Грызлова</a:t>
            </a:r>
          </a:p>
          <a:p>
            <a:r>
              <a:rPr lang="ru-RU" dirty="0" smtClean="0"/>
              <a:t>2024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20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5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676" y="289883"/>
            <a:ext cx="10515600" cy="61482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Распознавание диктора по А. Фору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71268" y="2406770"/>
            <a:ext cx="3347049" cy="15872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Идентифицируемый диктор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06900" y="1615862"/>
            <a:ext cx="3347049" cy="230334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tIns="1296000" rtlCol="0" anchor="ctr"/>
          <a:lstStyle/>
          <a:p>
            <a:pPr algn="r"/>
            <a:r>
              <a:rPr lang="ru-RU" b="1" dirty="0" smtClean="0"/>
              <a:t>ПАМЯТЬ, </a:t>
            </a:r>
          </a:p>
          <a:p>
            <a:pPr algn="r"/>
            <a:r>
              <a:rPr lang="ru-RU" b="1" dirty="0" smtClean="0"/>
              <a:t>образцы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806900" y="1584264"/>
            <a:ext cx="1897812" cy="724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959300" y="1736664"/>
            <a:ext cx="1897812" cy="724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111700" y="1889064"/>
            <a:ext cx="1897812" cy="724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264100" y="2041464"/>
            <a:ext cx="1897812" cy="724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8416500" y="2193864"/>
            <a:ext cx="1897812" cy="724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720762" y="4453666"/>
            <a:ext cx="1645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Сличение</a:t>
            </a:r>
            <a:r>
              <a:rPr lang="ru-RU" dirty="0" smtClean="0"/>
              <a:t> – сравнение текущего сигнала с моделью известного диктора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788022" y="4453666"/>
            <a:ext cx="19023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Идентификация</a:t>
            </a:r>
            <a:r>
              <a:rPr lang="ru-RU" dirty="0" smtClean="0"/>
              <a:t> – выделение диктора среди группы известных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885879" y="4315166"/>
            <a:ext cx="6788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Требования к информационным параметрам дикторской </a:t>
            </a:r>
            <a:r>
              <a:rPr lang="ru-RU" dirty="0" smtClean="0"/>
              <a:t>речи</a:t>
            </a:r>
            <a:r>
              <a:rPr lang="ru-RU" dirty="0" smtClean="0"/>
              <a:t>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л</a:t>
            </a:r>
            <a:r>
              <a:rPr lang="ru-RU" dirty="0" smtClean="0"/>
              <a:t>егкость измерения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стабильность во времени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естественность и большая частота появления в речи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независимость от эмоционального состояния диктора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н</a:t>
            </a:r>
            <a:r>
              <a:rPr lang="ru-RU" dirty="0" smtClean="0"/>
              <a:t>езависимость от окружения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т</a:t>
            </a:r>
            <a:r>
              <a:rPr lang="ru-RU" dirty="0" smtClean="0"/>
              <a:t>рудность для имитации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связь с личностью диктора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60666" y="825995"/>
            <a:ext cx="905042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err="1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Dsp</a:t>
            </a:r>
            <a:r>
              <a:rPr lang="en-US" sz="48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(S) </a:t>
            </a:r>
            <a:r>
              <a:rPr lang="ru-RU" sz="48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Symbol" panose="05050102010706020507" pitchFamily="18" charset="2"/>
              </a:rPr>
              <a:t></a:t>
            </a:r>
            <a:r>
              <a:rPr lang="en-US" sz="48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Symbol" panose="05050102010706020507" pitchFamily="18" charset="2"/>
              </a:rPr>
              <a:t> X</a:t>
            </a:r>
            <a:r>
              <a:rPr lang="ru-RU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 </a:t>
            </a:r>
            <a:r>
              <a:rPr lang="ru-RU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</a:t>
            </a:r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 (X, X(</a:t>
            </a:r>
            <a:r>
              <a:rPr lang="en-US" sz="4800" b="1" dirty="0" err="1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DPattern</a:t>
            </a:r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)</a:t>
            </a:r>
            <a:r>
              <a:rPr lang="ru-RU" sz="4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 </a:t>
            </a:r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)</a:t>
            </a:r>
            <a:r>
              <a:rPr lang="ru-RU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</a:t>
            </a:r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R</a:t>
            </a:r>
            <a:endParaRPr lang="ru-RU" sz="48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074890" y="1637455"/>
            <a:ext cx="398974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{X(</a:t>
            </a:r>
            <a:r>
              <a:rPr lang="en-US" sz="4800" b="1" dirty="0" err="1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DPatterns</a:t>
            </a:r>
            <a:r>
              <a:rPr lang="en-US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)}</a:t>
            </a:r>
            <a:r>
              <a:rPr lang="ru-RU" sz="48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sym typeface="Symbol" panose="05050102010706020507" pitchFamily="18" charset="2"/>
              </a:rPr>
              <a:t> 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60491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551" y="156198"/>
            <a:ext cx="11542143" cy="99111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Оценка информативности оцениваемых параметров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1903" y="3709819"/>
                <a:ext cx="3580467" cy="56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03" y="3709819"/>
                <a:ext cx="3580467" cy="5678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036089" y="1195409"/>
                <a:ext cx="1487779" cy="4496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89" y="1195409"/>
                <a:ext cx="1487779" cy="449610"/>
              </a:xfrm>
              <a:prstGeom prst="rect">
                <a:avLst/>
              </a:prstGeom>
              <a:blipFill rotWithShape="0">
                <a:blip r:embed="rId3"/>
                <a:stretch>
                  <a:fillRect l="-2049" r="-410" b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85553" y="2291005"/>
                <a:ext cx="12275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553" y="2291005"/>
                <a:ext cx="1227516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475" r="-1980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85701" y="4890996"/>
                <a:ext cx="3581045" cy="486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 smtClean="0"/>
                  <a:t>D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01" y="4890996"/>
                <a:ext cx="3581045" cy="486095"/>
              </a:xfrm>
              <a:prstGeom prst="rect">
                <a:avLst/>
              </a:prstGeom>
              <a:blipFill rotWithShape="0">
                <a:blip r:embed="rId5"/>
                <a:stretch>
                  <a:fillRect l="-4089" r="-1022"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150" y="5494387"/>
                <a:ext cx="3832972" cy="486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 smtClean="0"/>
                  <a:t>D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0" y="5494387"/>
                <a:ext cx="3832972" cy="486095"/>
              </a:xfrm>
              <a:prstGeom prst="rect">
                <a:avLst/>
              </a:prstGeom>
              <a:blipFill rotWithShape="0">
                <a:blip r:embed="rId6"/>
                <a:stretch>
                  <a:fillRect l="-3816" r="-795"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150" y="6212288"/>
                <a:ext cx="13079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B</a:t>
                </a:r>
                <a:endParaRPr lang="ru-R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0" y="6212288"/>
                <a:ext cx="1307987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6512" t="-28261" r="-9767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8200" y="1753496"/>
                <a:ext cx="27603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 smtClean="0"/>
                  <a:t>B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53496"/>
                <a:ext cx="2760307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5310" t="-28889" r="-1106" b="-5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52440" y="1195409"/>
            <a:ext cx="3666227" cy="369332"/>
          </a:xfrm>
          <a:prstGeom prst="rect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Матрица ковариации диктора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4747122" y="1761537"/>
            <a:ext cx="4212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Среднее значение рассматриваемого параметра для  </a:t>
            </a:r>
            <a:r>
              <a:rPr lang="en-US" dirty="0" err="1" smtClean="0"/>
              <a:t>i</a:t>
            </a:r>
            <a:r>
              <a:rPr lang="ru-RU" dirty="0" smtClean="0"/>
              <a:t>-того диктора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10551" y="3274899"/>
            <a:ext cx="4230066" cy="369332"/>
          </a:xfrm>
          <a:prstGeom prst="rect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r>
              <a:rPr lang="ru-RU" dirty="0"/>
              <a:t>Матрица ковариации для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/>
              <a:t>того диктора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01364" y="4479428"/>
            <a:ext cx="2993366" cy="369332"/>
          </a:xfrm>
          <a:prstGeom prst="rect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r>
              <a:rPr lang="ru-RU" dirty="0"/>
              <a:t>Неопределенность замеров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663652" y="2812045"/>
            <a:ext cx="4837017" cy="3416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Процент правильного распознавания находится в прямой зависимости от </a:t>
            </a:r>
            <a:r>
              <a:rPr lang="ru-RU" b="1" dirty="0" smtClean="0"/>
              <a:t>неопределенности</a:t>
            </a:r>
            <a:r>
              <a:rPr lang="ru-RU" dirty="0" smtClean="0"/>
              <a:t>. </a:t>
            </a:r>
            <a:endParaRPr lang="en-US" dirty="0" smtClean="0"/>
          </a:p>
          <a:p>
            <a:r>
              <a:rPr lang="ru-RU" dirty="0" smtClean="0"/>
              <a:t>Рассматриваются </a:t>
            </a:r>
            <a:r>
              <a:rPr lang="ru-RU" dirty="0" smtClean="0"/>
              <a:t>параметры: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И</a:t>
            </a:r>
            <a:r>
              <a:rPr lang="ru-RU" dirty="0" smtClean="0"/>
              <a:t>нтенсивность сигнала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/>
              <a:t>О</a:t>
            </a:r>
            <a:r>
              <a:rPr lang="ru-RU" dirty="0" smtClean="0"/>
              <a:t>сновной </a:t>
            </a:r>
            <a:r>
              <a:rPr lang="ru-RU" dirty="0" smtClean="0"/>
              <a:t>тон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К</a:t>
            </a:r>
            <a:r>
              <a:rPr lang="ru-RU" dirty="0" smtClean="0"/>
              <a:t>оэффициенты линейного предсказания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Ч</a:t>
            </a:r>
            <a:r>
              <a:rPr lang="ru-RU" dirty="0" smtClean="0"/>
              <a:t>астоты и величины </a:t>
            </a:r>
            <a:r>
              <a:rPr lang="ru-RU" b="1" dirty="0" smtClean="0"/>
              <a:t>формант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Н</a:t>
            </a:r>
            <a:r>
              <a:rPr lang="ru-RU" dirty="0" smtClean="0"/>
              <a:t>осовая окраска звука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/>
              <a:t>С</a:t>
            </a:r>
            <a:r>
              <a:rPr lang="ru-RU" dirty="0" smtClean="0"/>
              <a:t>пектральные </a:t>
            </a:r>
            <a:r>
              <a:rPr lang="ru-RU" dirty="0" smtClean="0"/>
              <a:t>связи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Р</a:t>
            </a:r>
            <a:r>
              <a:rPr lang="ru-RU" dirty="0" smtClean="0"/>
              <a:t>итм и </a:t>
            </a:r>
            <a:r>
              <a:rPr lang="ru-RU" b="1" dirty="0" smtClean="0"/>
              <a:t>т</a:t>
            </a:r>
            <a:r>
              <a:rPr lang="ru-RU" dirty="0" smtClean="0"/>
              <a:t>емп речи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b="1" dirty="0" smtClean="0"/>
              <a:t>И пр., и пр.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970807" y="1001678"/>
            <a:ext cx="395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Вектор измерений </a:t>
            </a:r>
            <a:r>
              <a:rPr lang="en-US" dirty="0" err="1" smtClean="0"/>
              <a:t>i</a:t>
            </a:r>
            <a:r>
              <a:rPr lang="ru-RU" dirty="0" smtClean="0"/>
              <a:t>-того варианта одного и того же высказывания, произнесенного </a:t>
            </a:r>
            <a:r>
              <a:rPr lang="en-US" dirty="0" err="1" smtClean="0"/>
              <a:t>i</a:t>
            </a:r>
            <a:r>
              <a:rPr lang="en-US" dirty="0" smtClean="0"/>
              <a:t>-</a:t>
            </a:r>
            <a:r>
              <a:rPr lang="ru-RU" dirty="0" err="1" smtClean="0"/>
              <a:t>тым</a:t>
            </a:r>
            <a:r>
              <a:rPr lang="ru-RU" dirty="0" smtClean="0"/>
              <a:t> диктором</a:t>
            </a:r>
            <a:endParaRPr lang="ru-RU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 flipV="1">
            <a:off x="5036089" y="1564741"/>
            <a:ext cx="131134" cy="1584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кругленная соединительная линия 23"/>
          <p:cNvCxnSpPr/>
          <p:nvPr/>
        </p:nvCxnSpPr>
        <p:spPr>
          <a:xfrm rot="10800000">
            <a:off x="6081622" y="1174722"/>
            <a:ext cx="1820174" cy="54137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838200" y="1564741"/>
            <a:ext cx="173915" cy="196796"/>
          </a:xfrm>
          <a:prstGeom prst="straightConnector1">
            <a:avLst/>
          </a:prstGeom>
          <a:noFill/>
        </p:spPr>
      </p:cxnSp>
      <p:sp>
        <p:nvSpPr>
          <p:cNvPr id="30" name="TextBox 29"/>
          <p:cNvSpPr txBox="1"/>
          <p:nvPr/>
        </p:nvSpPr>
        <p:spPr>
          <a:xfrm>
            <a:off x="310551" y="2165714"/>
            <a:ext cx="3097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Среднее значение рассматриваемого параметра для </a:t>
            </a:r>
            <a:r>
              <a:rPr lang="ru-RU" dirty="0" smtClean="0"/>
              <a:t>всех дикторов</a:t>
            </a:r>
            <a:endParaRPr lang="ru-RU" dirty="0"/>
          </a:p>
        </p:txBody>
      </p:sp>
      <p:cxnSp>
        <p:nvCxnSpPr>
          <p:cNvPr id="32" name="Прямая со стрелкой 31"/>
          <p:cNvCxnSpPr/>
          <p:nvPr/>
        </p:nvCxnSpPr>
        <p:spPr>
          <a:xfrm flipH="1" flipV="1">
            <a:off x="2674189" y="2558289"/>
            <a:ext cx="254412" cy="2537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9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430"/>
          </a:xfrm>
        </p:spPr>
        <p:txBody>
          <a:bodyPr/>
          <a:lstStyle/>
          <a:p>
            <a:r>
              <a:rPr lang="ru-RU" dirty="0" smtClean="0"/>
              <a:t>Подход к классификации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27416" y="1953452"/>
                <a:ext cx="30094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</m:d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16" y="1953452"/>
                <a:ext cx="3009414" cy="276999"/>
              </a:xfrm>
              <a:prstGeom prst="rect">
                <a:avLst/>
              </a:prstGeom>
              <a:blipFill rotWithShape="0">
                <a:blip r:embed="rId2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241566" y="1707590"/>
                <a:ext cx="5471370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66" y="1707590"/>
                <a:ext cx="5471370" cy="616387"/>
              </a:xfrm>
              <a:prstGeom prst="rect">
                <a:avLst/>
              </a:prstGeom>
              <a:blipFill rotWithShape="0"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193725" y="3072212"/>
                <a:ext cx="2262992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1)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 smtClean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725" y="3072212"/>
                <a:ext cx="2262992" cy="391646"/>
              </a:xfrm>
              <a:prstGeom prst="rect">
                <a:avLst/>
              </a:prstGeom>
              <a:blipFill rotWithShape="0">
                <a:blip r:embed="rId4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068650" y="3140304"/>
                <a:ext cx="1691424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650" y="3140304"/>
                <a:ext cx="1691424" cy="299313"/>
              </a:xfrm>
              <a:prstGeom prst="rect">
                <a:avLst/>
              </a:prstGeom>
              <a:blipFill rotWithShape="0">
                <a:blip r:embed="rId5"/>
                <a:stretch>
                  <a:fillRect l="-2518" b="-265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20000" y="2921968"/>
                <a:ext cx="3517821" cy="400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1">
                                                  <a:latin typeface="Cambria Math" panose="02040503050406030204" pitchFamily="18" charset="0"/>
                                                </a:rPr>
                                                <m:t>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000" y="2921968"/>
                <a:ext cx="3517821" cy="400944"/>
              </a:xfrm>
              <a:prstGeom prst="rect">
                <a:avLst/>
              </a:prstGeom>
              <a:blipFill rotWithShape="0"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54301" y="4440940"/>
                <a:ext cx="764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𝐐𝐱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01" y="4440940"/>
                <a:ext cx="764633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7143" r="-9524" b="-2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018724" y="4434958"/>
                <a:ext cx="996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𝐐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ru-RU" b="1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724" y="4434958"/>
                <a:ext cx="996940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5488" r="-1829" b="-3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326005" y="4359039"/>
                <a:ext cx="3431131" cy="4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𝐲</m:t>
                                      </m:r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𝛍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𝛍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005" y="4359039"/>
                <a:ext cx="3431131" cy="42883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54301" y="4920551"/>
                <a:ext cx="3854517" cy="4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1">
                                                  <a:latin typeface="Cambria Math" panose="02040503050406030204" pitchFamily="18" charset="0"/>
                                                </a:rPr>
                                                <m:t>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𝐐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𝐙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01" y="4920551"/>
                <a:ext cx="3854517" cy="42883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548489" y="4434958"/>
                <a:ext cx="2378663" cy="774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489" y="4434958"/>
                <a:ext cx="2378663" cy="77450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72860" y="1366411"/>
            <a:ext cx="572794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!! </a:t>
            </a:r>
            <a:r>
              <a:rPr lang="ru-RU" b="1" dirty="0" smtClean="0"/>
              <a:t>П</a:t>
            </a:r>
            <a:r>
              <a:rPr lang="ru-RU" dirty="0" smtClean="0"/>
              <a:t>римем распределение параметров за </a:t>
            </a:r>
            <a:r>
              <a:rPr lang="ru-RU" b="1" dirty="0" smtClean="0"/>
              <a:t>г</a:t>
            </a:r>
            <a:r>
              <a:rPr lang="ru-RU" dirty="0" smtClean="0"/>
              <a:t>ауссово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14709" y="2586241"/>
            <a:ext cx="378124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Приписываем реализацию диктору </a:t>
            </a:r>
            <a:r>
              <a:rPr lang="en-US" dirty="0" smtClean="0"/>
              <a:t>j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93253" y="3946694"/>
            <a:ext cx="524817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Второй вариант (не зависит от преобразований)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8465425" y="3975949"/>
            <a:ext cx="2544792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Взаимная корреляция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687415" y="5709060"/>
            <a:ext cx="445985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ru-RU" dirty="0" smtClean="0"/>
              <a:t>97% правильного распознавания на основе анализа спектров, представленных отношением </a:t>
            </a:r>
            <a:r>
              <a:rPr lang="ru-RU" b="1" dirty="0" smtClean="0"/>
              <a:t>частота – интенсивность 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6487064" y="1437593"/>
            <a:ext cx="1061049" cy="2186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57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 распознавания дикторов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15992" y="1778841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Существуют следующие проблемы и ограничения задачи распознавания </a:t>
            </a:r>
          </a:p>
          <a:p>
            <a:r>
              <a:rPr lang="ru-RU" dirty="0" smtClean="0"/>
              <a:t>личности по голосу, которые следует учитывать при построении решения: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/>
              <a:t> </a:t>
            </a:r>
            <a:r>
              <a:rPr lang="ru-RU" dirty="0" smtClean="0"/>
              <a:t>Эмоциональное состояние диктора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Сложная акустическая обстановка (шумы и помехи)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Разные каналы связи при обучении и распознавании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Естественные изменения голоса</a:t>
            </a:r>
          </a:p>
          <a:p>
            <a:endParaRPr lang="ru-RU" dirty="0"/>
          </a:p>
          <a:p>
            <a:r>
              <a:rPr lang="ru-RU" dirty="0" smtClean="0"/>
              <a:t>Распознавание </a:t>
            </a:r>
            <a:r>
              <a:rPr lang="ru-RU" dirty="0" smtClean="0"/>
              <a:t>личности по голосу находит применение во многих сферах: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Криминалистика и судебная экспертиза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Безопасность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Банковские технологии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Электронная коммерция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 </a:t>
            </a:r>
            <a:r>
              <a:rPr lang="ru-RU" dirty="0" err="1" smtClean="0"/>
              <a:t>Телематика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Речь </a:t>
            </a:r>
            <a:r>
              <a:rPr lang="ru-RU" dirty="0" smtClean="0"/>
              <a:t>представляет собой </a:t>
            </a:r>
            <a:r>
              <a:rPr lang="ru-RU" dirty="0" smtClean="0"/>
              <a:t>очень сложный, очень вариативный сигнал.</a:t>
            </a:r>
          </a:p>
          <a:p>
            <a:r>
              <a:rPr lang="ru-RU" dirty="0" smtClean="0"/>
              <a:t>Цена ошибок распознавания в указанных областях очень высока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70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1675" y="942975"/>
            <a:ext cx="4229100" cy="202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9292" y="791696"/>
            <a:ext cx="11325599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Чтобы поставить точку в теме НМО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фоноскопической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экспертизы, приведу типовой список литературы, используемой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при проведении идентификационного исследования дикторов: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I. ГОСТ 13699-91. Запись и воспроизведение информации.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II. ГОСТ Р 50840-95 Передача речи по трактам связи. Методы оценки качества, разборчивости и узнаваемости.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III. ГОСТ Р 58332-2018. Судебная экспертиза фонограмм. Термины и определения.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IV.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Деркач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М.Ф.,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Гумецкий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Р.Я.,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Гура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Б.М., Чабан М.Е. Динамические спектры речевых сигналов. –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Львiв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Вища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школа. Изд-во при Львовском ун-те. 1983. – 168 с.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V. Зубова П.И., Коваль С.Л. Идентификация личности по голосу и звучащей речи на основе комплексного анализа фонограмм / «Теория и практика судебной экспертизы». – М.: РФЦСЭ, 2007, №3 (7) . С. 68-76.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VI. Коваль С.Л. Использование метода формантного выравнивания для проведения инструментальной части идентификационного исследования говорящего / «Теория и практика судебной экспертизы». – М.: РФЦСЭ, 2007 Теория и практика судебной экспертизы. № 3 (7). М, 2007. С. 160-174.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VII.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Рамишвили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Г.С.,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Чикоидзе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 Г.Б. Криминалистическое исследование фонограмм речи и идентификация личности говорящего. Тбилиси: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Мецниереба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, 1991. – 265 с.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1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71675" y="942975"/>
            <a:ext cx="4229100" cy="202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99292" y="2192079"/>
            <a:ext cx="11325599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VIII. Современные методы, технические и программные средства, используемые в криминалистической экспертизе звукозаписей. (Методическое пособие для экспертов). – М: ГУ РФЦСЭ при Минюсте России, 2003. - 256 с.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IX. Фант Г. Акустическая теория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речеобразования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. М., 1964. - 284 с.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X. SISII. Специальное программное обеспечение. STC-S849. Руководство пользователя ЦВАУ.00432-01 94 [Электронный ресурс].</a:t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/>
            </a:r>
            <a:b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</a:b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-apple-system"/>
              </a:rPr>
              <a:t>XI. SIS. Модули. STC-S849. Руководство пользователя ЦВАУ.00432-01 94 [Электронный ресурс].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95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338</Words>
  <Application>Microsoft Office PowerPoint</Application>
  <PresentationFormat>Широкоэкранный</PresentationFormat>
  <Paragraphs>79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Cambria Math</vt:lpstr>
      <vt:lpstr>Courier New</vt:lpstr>
      <vt:lpstr>Symbol</vt:lpstr>
      <vt:lpstr>Wingdings</vt:lpstr>
      <vt:lpstr>Тема Office</vt:lpstr>
      <vt:lpstr>Распознавание дикторов</vt:lpstr>
      <vt:lpstr>Презентация PowerPoint</vt:lpstr>
      <vt:lpstr>Распознавание диктора по А. Фору</vt:lpstr>
      <vt:lpstr>Оценка информативности оцениваемых параметров</vt:lpstr>
      <vt:lpstr>Подход к классификации</vt:lpstr>
      <vt:lpstr>Проблемы распознавания дикторов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43</cp:revision>
  <dcterms:created xsi:type="dcterms:W3CDTF">2024-10-25T13:57:38Z</dcterms:created>
  <dcterms:modified xsi:type="dcterms:W3CDTF">2024-11-22T19:00:01Z</dcterms:modified>
</cp:coreProperties>
</file>