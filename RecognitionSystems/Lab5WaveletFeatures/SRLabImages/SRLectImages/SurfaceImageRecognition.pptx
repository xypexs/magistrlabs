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1" r:id="rId4"/>
    <p:sldId id="267" r:id="rId5"/>
    <p:sldId id="268" r:id="rId6"/>
    <p:sldId id="259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269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Заголовок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5" name="Подзаголовок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1" name="Дата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D237B5BC-E88E-406B-AB30-9EDB473E1D40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18" name="Нижний колонтитул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FA6EAE6A-EEA9-4AFF-8EC8-34B87821ECCE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237B5BC-E88E-406B-AB30-9EDB473E1D40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A6EAE6A-EEA9-4AFF-8EC8-34B87821ECC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D237B5BC-E88E-406B-AB30-9EDB473E1D40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FA6EAE6A-EEA9-4AFF-8EC8-34B87821ECCE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237B5BC-E88E-406B-AB30-9EDB473E1D40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A6EAE6A-EEA9-4AFF-8EC8-34B87821ECC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237B5BC-E88E-406B-AB30-9EDB473E1D40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A6EAE6A-EEA9-4AFF-8EC8-34B87821ECC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237B5BC-E88E-406B-AB30-9EDB473E1D40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A6EAE6A-EEA9-4AFF-8EC8-34B87821ECC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D237B5BC-E88E-406B-AB30-9EDB473E1D40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A6EAE6A-EEA9-4AFF-8EC8-34B87821ECC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237B5BC-E88E-406B-AB30-9EDB473E1D40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A6EAE6A-EEA9-4AFF-8EC8-34B87821ECC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237B5BC-E88E-406B-AB30-9EDB473E1D40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A6EAE6A-EEA9-4AFF-8EC8-34B87821ECCE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Рисунок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237B5BC-E88E-406B-AB30-9EDB473E1D40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A6EAE6A-EEA9-4AFF-8EC8-34B87821ECC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D237B5BC-E88E-406B-AB30-9EDB473E1D40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FA6EAE6A-EEA9-4AFF-8EC8-34B87821ECC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1" name="Текст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7" name="Дата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D237B5BC-E88E-406B-AB30-9EDB473E1D40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FA6EAE6A-EEA9-4AFF-8EC8-34B87821ECCE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Распознавание изображений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Курс «Системы распознавания»</a:t>
            </a:r>
          </a:p>
          <a:p>
            <a:endParaRPr lang="ru-RU" dirty="0" smtClean="0"/>
          </a:p>
          <a:p>
            <a:r>
              <a:rPr lang="ru-RU" dirty="0" smtClean="0"/>
              <a:t>202</a:t>
            </a:r>
            <a:r>
              <a:rPr lang="en-US" dirty="0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260648"/>
            <a:ext cx="7591744" cy="936104"/>
          </a:xfrm>
        </p:spPr>
        <p:txBody>
          <a:bodyPr>
            <a:noAutofit/>
          </a:bodyPr>
          <a:lstStyle/>
          <a:p>
            <a:r>
              <a:rPr lang="ru-RU" sz="3200" dirty="0" smtClean="0"/>
              <a:t>«Миллиметровая радиолокация с фрактальной обработкой»</a:t>
            </a:r>
            <a:endParaRPr lang="ru-RU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205208" y="1314056"/>
            <a:ext cx="7656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Быстров Р. П., Потапов А. А., Соколов А. В.. - М.: Радиотехника, 2005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231496" y="1800692"/>
            <a:ext cx="79896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Группы признаков для распознавания  радиолокационных изображений:</a:t>
            </a:r>
          </a:p>
          <a:p>
            <a:pPr>
              <a:buFont typeface="Wingdings" pitchFamily="2" charset="2"/>
              <a:buChar char="v"/>
            </a:pPr>
            <a:r>
              <a:rPr lang="ru-RU" dirty="0" smtClean="0"/>
              <a:t> Текстурные меры и текстурные сигнатуры</a:t>
            </a:r>
          </a:p>
          <a:p>
            <a:pPr>
              <a:buFont typeface="Wingdings" pitchFamily="2" charset="2"/>
              <a:buChar char="v"/>
            </a:pPr>
            <a:r>
              <a:rPr lang="ru-RU" dirty="0" smtClean="0"/>
              <a:t> Фрактальные сигнатуры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Текстурные меры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07505" y="1700808"/>
            <a:ext cx="784887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Вокруг цели всегда присутствуют участки фоновых отражений, объединенные общим понятием </a:t>
            </a:r>
            <a:r>
              <a:rPr lang="ru-RU" b="1" i="1" dirty="0" smtClean="0"/>
              <a:t>текстуры</a:t>
            </a:r>
            <a:r>
              <a:rPr lang="ru-RU" i="1" dirty="0" smtClean="0"/>
              <a:t>.</a:t>
            </a:r>
          </a:p>
          <a:p>
            <a:r>
              <a:rPr lang="ru-RU" dirty="0"/>
              <a:t>Текстура описывает пространственные свойства участков изображений земной поверхности с локально однородными статистическими характеристиками. </a:t>
            </a:r>
          </a:p>
          <a:p>
            <a:endParaRPr lang="ru-RU" i="1" dirty="0" smtClean="0"/>
          </a:p>
          <a:p>
            <a:pPr algn="just"/>
            <a:r>
              <a:rPr lang="ru-RU" b="1" i="1" dirty="0" smtClean="0"/>
              <a:t>Текстурные</a:t>
            </a:r>
            <a:r>
              <a:rPr lang="ru-RU" i="1" dirty="0" smtClean="0"/>
              <a:t> </a:t>
            </a:r>
            <a:r>
              <a:rPr lang="ru-RU" b="1" i="1" dirty="0" smtClean="0"/>
              <a:t>признаки</a:t>
            </a:r>
            <a:r>
              <a:rPr lang="ru-RU" i="1" dirty="0" smtClean="0"/>
              <a:t> </a:t>
            </a:r>
            <a:r>
              <a:rPr lang="ru-RU" dirty="0" smtClean="0"/>
              <a:t>основаны на статистических характеристиках уровней интенсивности элементов изображения. </a:t>
            </a:r>
            <a:r>
              <a:rPr lang="ru-RU" dirty="0"/>
              <a:t>Решение о </a:t>
            </a:r>
            <a:r>
              <a:rPr lang="ru-RU" dirty="0" smtClean="0"/>
              <a:t>принадлежности текстуры тому или иному классу может приниматься только на основании конкретных значений признаков данной текстуры.</a:t>
            </a:r>
          </a:p>
          <a:p>
            <a:pPr algn="just"/>
            <a:r>
              <a:rPr lang="ru-RU" b="1" dirty="0" smtClean="0"/>
              <a:t>Сигнатура</a:t>
            </a:r>
            <a:r>
              <a:rPr lang="ru-RU" dirty="0" smtClean="0"/>
              <a:t> – распределение генеральной совокупности измерений для данной текстуры в сценах такого же типа, как данная.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457200" y="5426135"/>
            <a:ext cx="69231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Обнаружение и идентификация цели происходит тогда, когда цель затеняет участок фона, изменяя при этом интегральные параметры текстуры. </a:t>
            </a:r>
          </a:p>
        </p:txBody>
      </p:sp>
    </p:spTree>
    <p:extLst>
      <p:ext uri="{BB962C8B-B14F-4D97-AF65-F5344CB8AC3E}">
        <p14:creationId xmlns:p14="http://schemas.microsoft.com/office/powerpoint/2010/main" val="2679671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2360" y="116632"/>
            <a:ext cx="7715200" cy="1080120"/>
          </a:xfrm>
        </p:spPr>
        <p:txBody>
          <a:bodyPr>
            <a:normAutofit/>
          </a:bodyPr>
          <a:lstStyle/>
          <a:p>
            <a:r>
              <a:rPr lang="ru-RU" sz="2800" dirty="0" smtClean="0"/>
              <a:t>Диаграмма </a:t>
            </a:r>
            <a:r>
              <a:rPr lang="ru-RU" sz="2800" dirty="0"/>
              <a:t>формирования матрицы распределения градиентов Р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-69076" y="1107477"/>
            <a:ext cx="8258072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/>
              <a:t>Матрица градиентов</a:t>
            </a:r>
            <a:r>
              <a:rPr lang="ru-RU" sz="1600" b="1" dirty="0"/>
              <a:t> P </a:t>
            </a:r>
            <a:r>
              <a:rPr lang="ru-RU" sz="1600" dirty="0"/>
              <a:t>является функцией углового расположения пар соседних элементов разрешения, а также функцией расстояния между ними. Угловое расположение, например, для d=1 зададим одним из </a:t>
            </a:r>
            <a:r>
              <a:rPr lang="ru-RU" sz="1600" dirty="0" err="1"/>
              <a:t>четырѐх</a:t>
            </a:r>
            <a:r>
              <a:rPr lang="ru-RU" sz="1600" dirty="0"/>
              <a:t> квантованных значений угла ∝, равных 0º, 45º, 90º, и </a:t>
            </a:r>
            <a:r>
              <a:rPr lang="ru-RU" sz="1600" dirty="0" smtClean="0"/>
              <a:t>135º. </a:t>
            </a:r>
            <a:r>
              <a:rPr lang="ru-RU" sz="1600" dirty="0"/>
              <a:t>Для каждого такого направления </a:t>
            </a:r>
            <a:r>
              <a:rPr lang="ru-RU" sz="1600" dirty="0" err="1"/>
              <a:t>введѐм</a:t>
            </a:r>
            <a:r>
              <a:rPr lang="ru-RU" sz="1600" dirty="0"/>
              <a:t> по матрице распределения градиентов </a:t>
            </a:r>
            <a:r>
              <a:rPr lang="ru-RU" sz="1600" b="1" dirty="0"/>
              <a:t>P</a:t>
            </a:r>
            <a:r>
              <a:rPr lang="ru-RU" sz="1600" dirty="0"/>
              <a:t>, содержащей относительные частоты </a:t>
            </a:r>
            <a:r>
              <a:rPr lang="ru-RU" sz="1600" b="1" dirty="0"/>
              <a:t>𝑝</a:t>
            </a:r>
            <a:r>
              <a:rPr lang="ru-RU" sz="1600" b="1" baseline="-25000" dirty="0"/>
              <a:t>𝑖𝑗</a:t>
            </a:r>
            <a:r>
              <a:rPr lang="ru-RU" sz="1600" dirty="0"/>
              <a:t> наличия на изображении соседних элементов с яркостями 𝑖,𝑗 ∈ 𝐺, где 𝐺 = 1, 2, … 𝑁 – множество из 𝑁 квантованных значений яркости элементов разрешения. В итоге, получившиеся 4 матрицы размером 𝑁 × 𝑁 и будут составлять </a:t>
            </a:r>
            <a:r>
              <a:rPr lang="ru-RU" sz="1600" b="1" dirty="0"/>
              <a:t>полный ансамбль матриц </a:t>
            </a:r>
            <a:r>
              <a:rPr lang="ru-RU" sz="1600" b="1" dirty="0" smtClean="0"/>
              <a:t>градиентов</a:t>
            </a:r>
            <a:endParaRPr lang="ru-RU" sz="16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051720" y="3933056"/>
            <a:ext cx="720080" cy="7200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chemeClr val="tx1"/>
                </a:solidFill>
              </a:rPr>
              <a:t>6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771800" y="3933056"/>
            <a:ext cx="720080" cy="7200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chemeClr val="tx1"/>
                </a:solidFill>
              </a:rPr>
              <a:t>7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491880" y="3933056"/>
            <a:ext cx="720080" cy="7200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chemeClr val="tx1"/>
                </a:solidFill>
              </a:rPr>
              <a:t>8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051720" y="4653136"/>
            <a:ext cx="720080" cy="7200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chemeClr val="tx1"/>
                </a:solidFill>
              </a:rPr>
              <a:t>5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051720" y="5373216"/>
            <a:ext cx="720080" cy="7200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chemeClr val="tx1"/>
                </a:solidFill>
              </a:rPr>
              <a:t>4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771800" y="4653136"/>
            <a:ext cx="720080" cy="7200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2771800" y="5373216"/>
            <a:ext cx="720080" cy="7200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chemeClr val="tx1"/>
                </a:solidFill>
              </a:rPr>
              <a:t>3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491880" y="4653136"/>
            <a:ext cx="720080" cy="7200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1</a:t>
            </a:r>
            <a:endParaRPr lang="ru-RU" sz="2400" b="1" dirty="0">
              <a:solidFill>
                <a:schemeClr val="tx1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491880" y="5373216"/>
            <a:ext cx="720080" cy="7200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chemeClr val="tx1"/>
                </a:solidFill>
              </a:rPr>
              <a:t>2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13" name="Овал 12"/>
          <p:cNvSpPr/>
          <p:nvPr/>
        </p:nvSpPr>
        <p:spPr>
          <a:xfrm>
            <a:off x="3007256" y="4869160"/>
            <a:ext cx="283964" cy="283964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chemeClr val="tx1"/>
              </a:solidFill>
            </a:endParaRPr>
          </a:p>
        </p:txBody>
      </p:sp>
      <p:cxnSp>
        <p:nvCxnSpPr>
          <p:cNvPr id="15" name="Прямая со стрелкой 14"/>
          <p:cNvCxnSpPr/>
          <p:nvPr/>
        </p:nvCxnSpPr>
        <p:spPr>
          <a:xfrm flipV="1">
            <a:off x="3275856" y="3717032"/>
            <a:ext cx="1224136" cy="1154162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>
            <a:stCxn id="13" idx="6"/>
          </p:cNvCxnSpPr>
          <p:nvPr/>
        </p:nvCxnSpPr>
        <p:spPr>
          <a:xfrm>
            <a:off x="3291220" y="5011142"/>
            <a:ext cx="1352788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13" idx="5"/>
          </p:cNvCxnSpPr>
          <p:nvPr/>
        </p:nvCxnSpPr>
        <p:spPr>
          <a:xfrm>
            <a:off x="3249634" y="5111538"/>
            <a:ext cx="1250358" cy="1197782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stCxn id="13" idx="4"/>
          </p:cNvCxnSpPr>
          <p:nvPr/>
        </p:nvCxnSpPr>
        <p:spPr>
          <a:xfrm flipH="1">
            <a:off x="3131840" y="5153124"/>
            <a:ext cx="17398" cy="1296145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>
            <a:stCxn id="13" idx="3"/>
          </p:cNvCxnSpPr>
          <p:nvPr/>
        </p:nvCxnSpPr>
        <p:spPr>
          <a:xfrm flipH="1">
            <a:off x="1682981" y="5111538"/>
            <a:ext cx="1365861" cy="1341798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>
            <a:stCxn id="13" idx="2"/>
          </p:cNvCxnSpPr>
          <p:nvPr/>
        </p:nvCxnSpPr>
        <p:spPr>
          <a:xfrm flipH="1">
            <a:off x="1475656" y="5011142"/>
            <a:ext cx="153160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>
            <a:stCxn id="13" idx="1"/>
          </p:cNvCxnSpPr>
          <p:nvPr/>
        </p:nvCxnSpPr>
        <p:spPr>
          <a:xfrm flipH="1" flipV="1">
            <a:off x="1835696" y="3717032"/>
            <a:ext cx="1213146" cy="1193714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>
            <a:stCxn id="13" idx="0"/>
          </p:cNvCxnSpPr>
          <p:nvPr/>
        </p:nvCxnSpPr>
        <p:spPr>
          <a:xfrm flipV="1">
            <a:off x="3149238" y="3673411"/>
            <a:ext cx="0" cy="1195749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781614" y="6377129"/>
                <a:ext cx="5402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614" y="6377129"/>
                <a:ext cx="540212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7865" r="-8989" b="-86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825955" y="4834539"/>
                <a:ext cx="5402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80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955" y="4834539"/>
                <a:ext cx="540212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7865" r="-8989" b="-86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4679694" y="4869160"/>
                <a:ext cx="2837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694" y="4869160"/>
                <a:ext cx="283732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7391" r="-17391" b="-88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907436" y="3478136"/>
                <a:ext cx="4584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b="0" dirty="0" smtClean="0"/>
                  <a:t>13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436" y="3478136"/>
                <a:ext cx="458459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32000" t="-31111" r="-17333" b="-488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3216021" y="3535566"/>
                <a:ext cx="4119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6021" y="3535566"/>
                <a:ext cx="411972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11940" r="-11940" b="-88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4653382" y="3534911"/>
                <a:ext cx="4119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45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3382" y="3534911"/>
                <a:ext cx="411972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11765" r="-11765" b="-111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3131840" y="6411164"/>
                <a:ext cx="5402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70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6411164"/>
                <a:ext cx="540212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9091" r="-9091" b="-88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4482066" y="6445199"/>
                <a:ext cx="5402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2066" y="6445199"/>
                <a:ext cx="540212" cy="276999"/>
              </a:xfrm>
              <a:prstGeom prst="rect">
                <a:avLst/>
              </a:prstGeom>
              <a:blipFill rotWithShape="0">
                <a:blip r:embed="rId9"/>
                <a:stretch>
                  <a:fillRect l="-7865" r="-8989" b="-86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6482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Примеры естественных структур в оптическом диапазоне</a:t>
            </a:r>
            <a:endParaRPr lang="ru-RU" sz="28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l="29603" t="38405" r="29592" b="26036"/>
          <a:stretch/>
        </p:blipFill>
        <p:spPr>
          <a:xfrm>
            <a:off x="827584" y="2132856"/>
            <a:ext cx="5728956" cy="2808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35696" y="5013176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Море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211960" y="5013176"/>
            <a:ext cx="1927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Лиственный лес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1698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876712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Пример матрицы смежности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l="30392" t="41860" r="28803" b="22581"/>
          <a:stretch/>
        </p:blipFill>
        <p:spPr>
          <a:xfrm>
            <a:off x="251520" y="1556792"/>
            <a:ext cx="7447728" cy="3384376"/>
          </a:xfrm>
          <a:prstGeom prst="rect">
            <a:avLst/>
          </a:prstGeom>
        </p:spPr>
      </p:pic>
      <p:sp>
        <p:nvSpPr>
          <p:cNvPr id="4" name="Овал 3"/>
          <p:cNvSpPr/>
          <p:nvPr/>
        </p:nvSpPr>
        <p:spPr>
          <a:xfrm>
            <a:off x="1907704" y="1916832"/>
            <a:ext cx="864096" cy="432048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7164288" y="3789040"/>
            <a:ext cx="432048" cy="432048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683568" y="2636912"/>
            <a:ext cx="936104" cy="504056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5940152" y="3068960"/>
            <a:ext cx="432048" cy="43204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l="24791" t="16256" r="24003" b="14646"/>
          <a:stretch/>
        </p:blipFill>
        <p:spPr>
          <a:xfrm>
            <a:off x="539552" y="620687"/>
            <a:ext cx="7020208" cy="532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438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l="27991" t="16256" r="25603" b="25426"/>
          <a:stretch/>
        </p:blipFill>
        <p:spPr>
          <a:xfrm>
            <a:off x="395536" y="764704"/>
            <a:ext cx="7232413" cy="511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222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l="27393" t="29059" r="28054" b="40538"/>
          <a:stretch/>
        </p:blipFill>
        <p:spPr>
          <a:xfrm>
            <a:off x="-36512" y="404664"/>
            <a:ext cx="8352928" cy="49685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3568" y="5661248"/>
            <a:ext cx="7128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Матрицы распределения градиентов – слева – морская поверхность, справа – лиственный лес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4098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l="28742" t="58663" r="28504" b="6934"/>
          <a:stretch/>
        </p:blipFill>
        <p:spPr>
          <a:xfrm>
            <a:off x="467544" y="260648"/>
            <a:ext cx="7848872" cy="48245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7544" y="5445224"/>
            <a:ext cx="7128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Матрицы распределения градиентов – слева – морская поверхность, справа – лиственный лес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3247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320040"/>
            <a:ext cx="7848872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Пространственные текстурные признаки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899592" y="1556792"/>
            <a:ext cx="504056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 Второй угловой момент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 Контраст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Коэффициент корреляции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/>
              <a:t> </a:t>
            </a:r>
            <a:r>
              <a:rPr lang="ru-RU" dirty="0" smtClean="0"/>
              <a:t>Дисперсия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/>
              <a:t> </a:t>
            </a:r>
            <a:r>
              <a:rPr lang="ru-RU" dirty="0" smtClean="0"/>
              <a:t>Момент обратной разности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Суммарное среднее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/>
              <a:t> </a:t>
            </a:r>
            <a:r>
              <a:rPr lang="ru-RU" dirty="0" smtClean="0"/>
              <a:t>Суммарная дисперсия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Суммарная энтропия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Энтропия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Дифференциальная дисперсия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Дифференциальная энтропия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Информационная мера корреляции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Информационная мера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Максимальный коэффициент корреляции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8445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715200" cy="94872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Фрактальные меры и фрактальные сигнатуры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611560" y="1700808"/>
            <a:ext cx="74168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/>
              <a:t>Фрактал</a:t>
            </a:r>
            <a:r>
              <a:rPr lang="ru-RU" dirty="0" smtClean="0"/>
              <a:t> – функциональное отображение или множество, получаемое бесконечным рекурсивным процессом и имеющее следующие свойства: 1) </a:t>
            </a:r>
            <a:r>
              <a:rPr lang="ru-RU" dirty="0" err="1" smtClean="0"/>
              <a:t>самоподобие</a:t>
            </a:r>
            <a:r>
              <a:rPr lang="ru-RU" dirty="0" smtClean="0"/>
              <a:t> или масштабная инвариантность; 2) их размерность (называемая размерностью </a:t>
            </a:r>
            <a:r>
              <a:rPr lang="ru-RU" dirty="0" err="1" smtClean="0"/>
              <a:t>Хаусдорфа</a:t>
            </a:r>
            <a:r>
              <a:rPr lang="ru-RU" dirty="0" smtClean="0"/>
              <a:t>) дробная, строго больше топологической размерности; 3) </a:t>
            </a:r>
            <a:r>
              <a:rPr lang="ru-RU" dirty="0" err="1" smtClean="0"/>
              <a:t>недифференцируемость</a:t>
            </a:r>
            <a:r>
              <a:rPr lang="ru-RU" dirty="0" smtClean="0"/>
              <a:t> и оперирование дробными производными и интегралами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611560" y="4164181"/>
            <a:ext cx="74168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Фракталы</a:t>
            </a:r>
            <a:r>
              <a:rPr lang="ru-RU" dirty="0" smtClean="0"/>
              <a:t> – геометрические объекты (линии, поверхности, тела), имеющие сильно изрезанную структуру и обладающие свойством </a:t>
            </a:r>
            <a:r>
              <a:rPr lang="ru-RU" dirty="0" err="1" smtClean="0"/>
              <a:t>самоподобия</a:t>
            </a:r>
            <a:r>
              <a:rPr lang="ru-RU" dirty="0" smtClean="0"/>
              <a:t> в ограниченном масштабе.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8532440" y="908720"/>
            <a:ext cx="2160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Абстракция</a:t>
            </a:r>
            <a:endParaRPr lang="ru-R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68" y="1337863"/>
            <a:ext cx="1584176" cy="3693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Математика</a:t>
            </a:r>
            <a:endParaRPr lang="ru-R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68" y="3657041"/>
            <a:ext cx="1584176" cy="3693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Физика</a:t>
            </a:r>
            <a:endParaRPr lang="ru-R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00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320040"/>
            <a:ext cx="8100392" cy="516672"/>
          </a:xfrm>
        </p:spPr>
        <p:txBody>
          <a:bodyPr>
            <a:normAutofit/>
          </a:bodyPr>
          <a:lstStyle/>
          <a:p>
            <a:r>
              <a:rPr lang="ru-RU" sz="2800" dirty="0" smtClean="0"/>
              <a:t>Классификация фрактальных сигнатур</a:t>
            </a:r>
            <a:endParaRPr lang="ru-RU" sz="28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699792" y="1052736"/>
            <a:ext cx="2232248" cy="50405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Фракталы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55576" y="1844824"/>
            <a:ext cx="2232248" cy="50405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Математические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716016" y="1819680"/>
            <a:ext cx="2232248" cy="50405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Физические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769320" y="2780928"/>
                <a:ext cx="2232248" cy="504056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 smtClean="0"/>
                  <a:t>Число итераций </a:t>
                </a:r>
                <a:endParaRPr lang="en-US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→∞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320" y="2780928"/>
                <a:ext cx="2232248" cy="50405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783064" y="3717032"/>
                <a:ext cx="3212872" cy="504056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 smtClean="0"/>
                  <a:t>Дробная размерность </a:t>
                </a:r>
                <a:r>
                  <a:rPr lang="ru-RU" dirty="0" err="1" smtClean="0"/>
                  <a:t>Хаусдорфа</a:t>
                </a:r>
                <a:r>
                  <a:rPr lang="en-US" dirty="0" smtClean="0"/>
                  <a:t>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064" y="3717032"/>
                <a:ext cx="3212872" cy="50405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рямоугольник 7"/>
          <p:cNvSpPr/>
          <p:nvPr/>
        </p:nvSpPr>
        <p:spPr>
          <a:xfrm>
            <a:off x="796808" y="4653136"/>
            <a:ext cx="3199128" cy="50405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Бесконечное число масштабов, </a:t>
            </a:r>
            <a:r>
              <a:rPr lang="ru-RU" dirty="0" err="1" smtClean="0"/>
              <a:t>самоподобие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810552" y="5589240"/>
            <a:ext cx="3185384" cy="50405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Дробные производные и интегралы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4716016" y="2816932"/>
                <a:ext cx="2232248" cy="504056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 smtClean="0"/>
                  <a:t>Число итераций </a:t>
                </a:r>
                <a:endParaRPr lang="en-US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конечное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2816932"/>
                <a:ext cx="2232248" cy="50405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/>
              <p:cNvSpPr/>
              <p:nvPr/>
            </p:nvSpPr>
            <p:spPr>
              <a:xfrm>
                <a:off x="4716016" y="3717032"/>
                <a:ext cx="3212872" cy="504056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 smtClean="0"/>
                  <a:t>Дробная размерность </a:t>
                </a:r>
                <a:r>
                  <a:rPr lang="ru-RU" dirty="0" err="1" smtClean="0"/>
                  <a:t>Хаусдорфа</a:t>
                </a:r>
                <a:r>
                  <a:rPr lang="en-US" dirty="0" smtClean="0"/>
                  <a:t>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3717032"/>
                <a:ext cx="3212872" cy="50405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Прямоугольник 11"/>
          <p:cNvSpPr/>
          <p:nvPr/>
        </p:nvSpPr>
        <p:spPr>
          <a:xfrm>
            <a:off x="4716016" y="4678256"/>
            <a:ext cx="3199128" cy="50405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Конечный интервал масштабов, </a:t>
            </a:r>
            <a:r>
              <a:rPr lang="ru-RU" dirty="0" err="1" smtClean="0"/>
              <a:t>самоподобие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4764660" y="5572056"/>
            <a:ext cx="3335732" cy="50405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Кусочно-дифференцируемая функция</a:t>
            </a:r>
            <a:endParaRPr lang="ru-RU" dirty="0"/>
          </a:p>
        </p:txBody>
      </p:sp>
      <p:cxnSp>
        <p:nvCxnSpPr>
          <p:cNvPr id="15" name="Прямая со стрелкой 14"/>
          <p:cNvCxnSpPr>
            <a:stCxn id="3" idx="1"/>
            <a:endCxn id="4" idx="0"/>
          </p:cNvCxnSpPr>
          <p:nvPr/>
        </p:nvCxnSpPr>
        <p:spPr>
          <a:xfrm flipH="1">
            <a:off x="1871700" y="1304764"/>
            <a:ext cx="828092" cy="540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>
            <a:stCxn id="3" idx="3"/>
            <a:endCxn id="5" idx="0"/>
          </p:cNvCxnSpPr>
          <p:nvPr/>
        </p:nvCxnSpPr>
        <p:spPr>
          <a:xfrm>
            <a:off x="4932040" y="1304764"/>
            <a:ext cx="900100" cy="514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Соединительная линия уступом 18"/>
          <p:cNvCxnSpPr>
            <a:stCxn id="4" idx="1"/>
            <a:endCxn id="9" idx="1"/>
          </p:cNvCxnSpPr>
          <p:nvPr/>
        </p:nvCxnSpPr>
        <p:spPr>
          <a:xfrm rot="10800000" flipH="1" flipV="1">
            <a:off x="755576" y="2096852"/>
            <a:ext cx="54976" cy="3744416"/>
          </a:xfrm>
          <a:prstGeom prst="bentConnector3">
            <a:avLst>
              <a:gd name="adj1" fmla="val -86490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rot="-300000">
            <a:off x="323528" y="2996952"/>
            <a:ext cx="445792" cy="36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 rot="-300000">
            <a:off x="324249" y="3949701"/>
            <a:ext cx="445792" cy="36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/>
          <p:nvPr/>
        </p:nvCxnSpPr>
        <p:spPr>
          <a:xfrm rot="-300000">
            <a:off x="324970" y="4902450"/>
            <a:ext cx="445792" cy="36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Соединительная линия уступом 31"/>
          <p:cNvCxnSpPr>
            <a:stCxn id="5" idx="1"/>
            <a:endCxn id="13" idx="1"/>
          </p:cNvCxnSpPr>
          <p:nvPr/>
        </p:nvCxnSpPr>
        <p:spPr>
          <a:xfrm rot="10800000" flipH="1" flipV="1">
            <a:off x="4716016" y="2071708"/>
            <a:ext cx="48644" cy="3752376"/>
          </a:xfrm>
          <a:prstGeom prst="bentConnector3">
            <a:avLst>
              <a:gd name="adj1" fmla="val -92109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/>
          <p:nvPr/>
        </p:nvCxnSpPr>
        <p:spPr>
          <a:xfrm rot="-300000">
            <a:off x="4269501" y="3058506"/>
            <a:ext cx="445792" cy="36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/>
          <p:nvPr/>
        </p:nvCxnSpPr>
        <p:spPr>
          <a:xfrm rot="-300000">
            <a:off x="4259376" y="3987061"/>
            <a:ext cx="445792" cy="36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/>
          <p:nvPr/>
        </p:nvCxnSpPr>
        <p:spPr>
          <a:xfrm rot="-300000">
            <a:off x="4249251" y="4915616"/>
            <a:ext cx="445792" cy="36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4278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931224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Некоторые особенности метода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772816"/>
            <a:ext cx="8172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ru-RU" dirty="0" smtClean="0"/>
              <a:t>Фрактальная размерность инвариантна к яркости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ru-RU" dirty="0" smtClean="0"/>
              <a:t>Детерминированный объект (цель) остается неизменным при изменении масштаба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ru-RU" dirty="0" smtClean="0"/>
              <a:t>Решена задача распознавания фрактала на фрактале по значениям дробной размерности и соответствующего ансамбля фрактальных сигнатур радиолокационных изображений в миллиметровом диапазоне, в большинстве случаев результаты совпадают с фрактальной обработкой оптических изображений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ru-RU" dirty="0" smtClean="0"/>
              <a:t>Алгоритмы обнаружения малоконтрастных объектов </a:t>
            </a:r>
            <a:r>
              <a:rPr lang="ru-RU" smtClean="0"/>
              <a:t>стабильно работают </a:t>
            </a:r>
            <a:r>
              <a:rPr lang="ru-RU" dirty="0" smtClean="0"/>
              <a:t>при малых значениях сигнал – фон.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7925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29" y="188640"/>
            <a:ext cx="8172400" cy="1287016"/>
          </a:xfrm>
        </p:spPr>
        <p:txBody>
          <a:bodyPr>
            <a:normAutofit/>
          </a:bodyPr>
          <a:lstStyle/>
          <a:p>
            <a:r>
              <a:rPr lang="ru-RU" sz="2700" dirty="0" err="1" smtClean="0"/>
              <a:t>ОбнаружениЕ</a:t>
            </a:r>
            <a:r>
              <a:rPr lang="ru-RU" sz="2700" dirty="0" smtClean="0"/>
              <a:t> </a:t>
            </a:r>
            <a:r>
              <a:rPr lang="ru-RU" sz="2700" dirty="0"/>
              <a:t>рубок на основе матрицы смежности перепадов яркости на примере изображений спутника «Ресурс-П</a:t>
            </a:r>
            <a:r>
              <a:rPr lang="ru-RU" sz="2700" dirty="0" smtClean="0"/>
              <a:t>»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1556792"/>
            <a:ext cx="817442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Решается задача поиска на спутниковых изображениях лесного полога оптимальных признаков, которые независимо от угла съемки идентифицируют наличие каких-либо изменений </a:t>
            </a:r>
            <a:r>
              <a:rPr lang="ru-RU" dirty="0" smtClean="0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типа </a:t>
            </a:r>
            <a:r>
              <a:rPr lang="ru-RU" b="1" dirty="0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рубок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ru-RU" b="1" dirty="0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вала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и т.п. Исходными данными являются </a:t>
            </a:r>
            <a:r>
              <a:rPr lang="ru-RU" b="1" dirty="0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изображения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с </a:t>
            </a:r>
            <a:r>
              <a:rPr lang="ru-RU" b="1" dirty="0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российского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спутника </a:t>
            </a:r>
            <a:r>
              <a:rPr lang="ru-RU" b="1" dirty="0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Ресурс–П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(пространственное разрешение 0.7 м</a:t>
            </a:r>
            <a:r>
              <a:rPr lang="ru-RU" dirty="0" smtClean="0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)</a:t>
            </a:r>
          </a:p>
          <a:p>
            <a:pPr algn="r"/>
            <a:r>
              <a:rPr lang="ru-RU" dirty="0" smtClean="0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лесного полога под разными углами съемки до рубки и после рубки. Перед </a:t>
            </a:r>
            <a:r>
              <a:rPr lang="ru-RU" dirty="0" smtClean="0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обнаружением изображения 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проходят процедуру предварительной обработки (нормализацию, выравнивание яркостей, квантование значений яркости на 8, 16 или 32 уровня).</a:t>
            </a:r>
            <a:br>
              <a:rPr lang="ru-RU" dirty="0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286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9512" y="404664"/>
            <a:ext cx="763284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Изменения 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в лесном пологе типа рубок, вала и т.п. саму текстуру существенно не меняют. </a:t>
            </a:r>
            <a:endParaRPr lang="ru-RU" dirty="0" smtClean="0">
              <a:solidFill>
                <a:srgbClr val="333333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algn="just"/>
            <a:r>
              <a:rPr lang="ru-RU" dirty="0" smtClean="0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НО:       Меняется 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статистика перепадов яркости на определенных лагах – расстояниях между пикселами. Для описания таких изменений в матрице смежности вместо статистики пар абсолютных яркостей предлагается использовать статистику перепадов двух изображений в одних и тех же координатах. </a:t>
            </a:r>
            <a:endParaRPr lang="ru-RU" dirty="0" smtClean="0">
              <a:solidFill>
                <a:srgbClr val="333333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algn="just"/>
            <a:endParaRPr lang="ru-RU" dirty="0">
              <a:solidFill>
                <a:srgbClr val="333333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algn="just"/>
            <a:r>
              <a:rPr lang="ru-RU" dirty="0" smtClean="0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Для 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заданного лага и направления рассматривается перепад яркости на первом изображении i и перепад j в тех же пикселах на втором изображении. Результат сравнения заносится в ячейку </a:t>
            </a:r>
            <a:r>
              <a:rPr lang="ru-RU" dirty="0" err="1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ij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матрицы смежности перепадов. </a:t>
            </a:r>
            <a:endParaRPr lang="ru-RU" dirty="0" smtClean="0">
              <a:solidFill>
                <a:srgbClr val="333333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algn="just"/>
            <a:endParaRPr lang="ru-RU" dirty="0" smtClean="0">
              <a:solidFill>
                <a:srgbClr val="333333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algn="just"/>
            <a:r>
              <a:rPr lang="ru-RU" dirty="0" smtClean="0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При 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идентичных текстурах такая матрица выглядит как диагональная - ненулевые значения по диагонали, а диагональ толщиной в 2-3 ряда. При наличии изменений типа рубок в матрице появляются ненулевые значения, отстоящие от диагонали и расположенные компактно. Это можно использовать для идентификации рубок.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5246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772816"/>
            <a:ext cx="6727351" cy="4027267"/>
          </a:xfrm>
          <a:prstGeom prst="rect">
            <a:avLst/>
          </a:prstGeom>
        </p:spPr>
      </p:pic>
      <p:sp>
        <p:nvSpPr>
          <p:cNvPr id="4" name="Заголовок 1"/>
          <p:cNvSpPr txBox="1">
            <a:spLocks/>
          </p:cNvSpPr>
          <p:nvPr/>
        </p:nvSpPr>
        <p:spPr>
          <a:xfrm>
            <a:off x="107504" y="320040"/>
            <a:ext cx="8136904" cy="1143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800" b="1" kern="1200" cap="all" baseline="0">
                <a:ln w="500">
                  <a:solidFill>
                    <a:schemeClr val="tx2">
                      <a:shade val="20000"/>
                      <a:satMod val="120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dirty="0" smtClean="0"/>
              <a:t>Giraffe</a:t>
            </a:r>
            <a:r>
              <a:rPr lang="ru-RU" dirty="0" smtClean="0"/>
              <a:t>2. Матрица смежности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71705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Giraffe1</a:t>
            </a:r>
            <a:r>
              <a:rPr lang="ru-RU" dirty="0" smtClean="0"/>
              <a:t>. Матрица смежности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060848"/>
            <a:ext cx="6727351" cy="402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13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Матрица смежности. </a:t>
            </a:r>
            <a:r>
              <a:rPr lang="en-US" dirty="0" smtClean="0"/>
              <a:t>Zebra1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60848"/>
            <a:ext cx="6682201" cy="402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4658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Матрица смежности. </a:t>
            </a:r>
            <a:r>
              <a:rPr lang="en-US" dirty="0" smtClean="0"/>
              <a:t>Zebra2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123" y="1988840"/>
            <a:ext cx="6682201" cy="402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0935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зящная">
  <a:themeElements>
    <a:clrScheme name="Изящная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Изящная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Изящная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561</TotalTime>
  <Words>794</Words>
  <Application>Microsoft Office PowerPoint</Application>
  <PresentationFormat>Экран (4:3)</PresentationFormat>
  <Paragraphs>93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7" baseType="lpstr">
      <vt:lpstr>Arial</vt:lpstr>
      <vt:lpstr>Cambria Math</vt:lpstr>
      <vt:lpstr>Times New Roman</vt:lpstr>
      <vt:lpstr>Trebuchet MS</vt:lpstr>
      <vt:lpstr>Wingdings</vt:lpstr>
      <vt:lpstr>Wingdings 2</vt:lpstr>
      <vt:lpstr>Изящная</vt:lpstr>
      <vt:lpstr>Распознавание изображений</vt:lpstr>
      <vt:lpstr>«Миллиметровая радиолокация с фрактальной обработкой»</vt:lpstr>
      <vt:lpstr>Текстурные меры</vt:lpstr>
      <vt:lpstr>Диаграмма формирования матрицы распределения градиентов Р</vt:lpstr>
      <vt:lpstr>Примеры естественных структур в оптическом диапазоне</vt:lpstr>
      <vt:lpstr>Пример матрицы смежности</vt:lpstr>
      <vt:lpstr>Презентация PowerPoint</vt:lpstr>
      <vt:lpstr>Презентация PowerPoint</vt:lpstr>
      <vt:lpstr>Презентация PowerPoint</vt:lpstr>
      <vt:lpstr>Презентация PowerPoint</vt:lpstr>
      <vt:lpstr>Пространственные текстурные признаки</vt:lpstr>
      <vt:lpstr>Фрактальные меры и фрактальные сигнатуры</vt:lpstr>
      <vt:lpstr>Классификация фрактальных сигнатур</vt:lpstr>
      <vt:lpstr>Некоторые особенности метода</vt:lpstr>
      <vt:lpstr>ОбнаружениЕ рубок на основе матрицы смежности перепадов яркости на примере изображений спутника «Ресурс-П»</vt:lpstr>
      <vt:lpstr>Презентация PowerPoint</vt:lpstr>
      <vt:lpstr>Презентация PowerPoint</vt:lpstr>
      <vt:lpstr>Giraffe1. Матрица смежности</vt:lpstr>
      <vt:lpstr>Матрица смежности. Zebra1</vt:lpstr>
      <vt:lpstr>Матрица смежности. Zebra2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Татьяна Грызлова</dc:creator>
  <cp:lastModifiedBy>Админ</cp:lastModifiedBy>
  <cp:revision>54</cp:revision>
  <dcterms:created xsi:type="dcterms:W3CDTF">2020-11-28T08:10:31Z</dcterms:created>
  <dcterms:modified xsi:type="dcterms:W3CDTF">2025-11-11T20:03:30Z</dcterms:modified>
</cp:coreProperties>
</file>