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9" r:id="rId10"/>
    <p:sldId id="263" r:id="rId11"/>
    <p:sldId id="264" r:id="rId12"/>
    <p:sldId id="265" r:id="rId13"/>
    <p:sldId id="266" r:id="rId14"/>
    <p:sldId id="267" r:id="rId1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902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4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4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4" Type="http://schemas.openxmlformats.org/officeDocument/2006/relationships/image" Target="../media/image2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AFD47-1BD1-420A-B385-AC1B90F6524E}" type="datetimeFigureOut">
              <a:rPr lang="ru-RU" smtClean="0"/>
              <a:t>07.10.2019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6051-9DFC-456A-80A9-0AD7E19361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3037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AFD47-1BD1-420A-B385-AC1B90F6524E}" type="datetimeFigureOut">
              <a:rPr lang="ru-RU" smtClean="0"/>
              <a:t>07.10.2019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6051-9DFC-456A-80A9-0AD7E19361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1127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AFD47-1BD1-420A-B385-AC1B90F6524E}" type="datetimeFigureOut">
              <a:rPr lang="ru-RU" smtClean="0"/>
              <a:t>07.10.2019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6051-9DFC-456A-80A9-0AD7E19361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986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AFD47-1BD1-420A-B385-AC1B90F6524E}" type="datetimeFigureOut">
              <a:rPr lang="ru-RU" smtClean="0"/>
              <a:t>07.10.2019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6051-9DFC-456A-80A9-0AD7E19361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3421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AFD47-1BD1-420A-B385-AC1B90F6524E}" type="datetimeFigureOut">
              <a:rPr lang="ru-RU" smtClean="0"/>
              <a:t>07.10.2019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6051-9DFC-456A-80A9-0AD7E19361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5992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AFD47-1BD1-420A-B385-AC1B90F6524E}" type="datetimeFigureOut">
              <a:rPr lang="ru-RU" smtClean="0"/>
              <a:t>07.10.2019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6051-9DFC-456A-80A9-0AD7E19361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8184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AFD47-1BD1-420A-B385-AC1B90F6524E}" type="datetimeFigureOut">
              <a:rPr lang="ru-RU" smtClean="0"/>
              <a:t>07.10.2019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6051-9DFC-456A-80A9-0AD7E19361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5780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AFD47-1BD1-420A-B385-AC1B90F6524E}" type="datetimeFigureOut">
              <a:rPr lang="ru-RU" smtClean="0"/>
              <a:t>07.10.2019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6051-9DFC-456A-80A9-0AD7E19361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3915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AFD47-1BD1-420A-B385-AC1B90F6524E}" type="datetimeFigureOut">
              <a:rPr lang="ru-RU" smtClean="0"/>
              <a:t>07.10.2019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6051-9DFC-456A-80A9-0AD7E19361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475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AFD47-1BD1-420A-B385-AC1B90F6524E}" type="datetimeFigureOut">
              <a:rPr lang="ru-RU" smtClean="0"/>
              <a:t>07.10.2019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6051-9DFC-456A-80A9-0AD7E19361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6893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AFD47-1BD1-420A-B385-AC1B90F6524E}" type="datetimeFigureOut">
              <a:rPr lang="ru-RU" smtClean="0"/>
              <a:t>07.10.2019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6051-9DFC-456A-80A9-0AD7E19361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2241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AFD47-1BD1-420A-B385-AC1B90F6524E}" type="datetimeFigureOut">
              <a:rPr lang="ru-RU" smtClean="0"/>
              <a:t>07.10.2019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6051-9DFC-456A-80A9-0AD7E19361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2980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1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2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3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17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7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8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2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Wavelet</a:t>
            </a:r>
            <a:r>
              <a:rPr lang="ru-RU" dirty="0" smtClean="0"/>
              <a:t>-анализ изображений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Грызлова Т. П.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9609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5180"/>
            <a:ext cx="8229600" cy="1143000"/>
          </a:xfrm>
        </p:spPr>
        <p:txBody>
          <a:bodyPr/>
          <a:lstStyle/>
          <a:p>
            <a:r>
              <a:rPr lang="ru-RU" dirty="0" smtClean="0"/>
              <a:t>Структура кадра</a:t>
            </a:r>
            <a:endParaRPr lang="ru-RU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8578203"/>
              </p:ext>
            </p:extLst>
          </p:nvPr>
        </p:nvGraphicFramePr>
        <p:xfrm>
          <a:off x="251520" y="1268760"/>
          <a:ext cx="8588191" cy="540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Visio" r:id="rId3" imgW="6036564" imgH="3692652" progId="Visio.Drawing.11">
                  <p:embed/>
                </p:oleObj>
              </mc:Choice>
              <mc:Fallback>
                <p:oleObj name="Visio" r:id="rId3" imgW="6036564" imgH="3692652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1268760"/>
                        <a:ext cx="8588191" cy="5400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27222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Расчет </a:t>
            </a:r>
            <a:r>
              <a:rPr lang="en-US" dirty="0" smtClean="0"/>
              <a:t>W</a:t>
            </a:r>
            <a:r>
              <a:rPr lang="ru-RU" dirty="0" smtClean="0"/>
              <a:t>-коэффициентов в базисе Хаара</a:t>
            </a:r>
            <a:endParaRPr lang="ru-RU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1128300"/>
              </p:ext>
            </p:extLst>
          </p:nvPr>
        </p:nvGraphicFramePr>
        <p:xfrm>
          <a:off x="611559" y="2132856"/>
          <a:ext cx="2489283" cy="108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8" r:id="rId3" imgW="1104900" imgH="482600" progId="Equation.DSMT4">
                  <p:embed/>
                </p:oleObj>
              </mc:Choice>
              <mc:Fallback>
                <p:oleObj r:id="rId3" imgW="1104900" imgH="4826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59" y="2132856"/>
                        <a:ext cx="2489283" cy="10801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3419872" y="1772816"/>
            <a:ext cx="487235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Изображение делится на квадратные блоки размером 2</a:t>
            </a:r>
            <a:r>
              <a:rPr lang="ru-RU" sz="2400" dirty="0">
                <a:sym typeface="Symbol"/>
              </a:rPr>
              <a:t></a:t>
            </a:r>
            <a:r>
              <a:rPr lang="ru-RU" sz="2400" dirty="0"/>
              <a:t>2 элемента. Для каждой матрицы яркостей</a:t>
            </a:r>
          </a:p>
        </p:txBody>
      </p:sp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2188667"/>
              </p:ext>
            </p:extLst>
          </p:nvPr>
        </p:nvGraphicFramePr>
        <p:xfrm>
          <a:off x="755576" y="3645024"/>
          <a:ext cx="7416824" cy="10530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" r:id="rId5" imgW="3111500" imgH="444500" progId="Equation.DSMT4">
                  <p:embed/>
                </p:oleObj>
              </mc:Choice>
              <mc:Fallback>
                <p:oleObj r:id="rId5" imgW="3111500" imgH="4445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3645024"/>
                        <a:ext cx="7416824" cy="105305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Объект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1081045"/>
              </p:ext>
            </p:extLst>
          </p:nvPr>
        </p:nvGraphicFramePr>
        <p:xfrm>
          <a:off x="683567" y="5013176"/>
          <a:ext cx="8000659" cy="108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" r:id="rId7" imgW="3771900" imgH="444500" progId="Equation.DSMT4">
                  <p:embed/>
                </p:oleObj>
              </mc:Choice>
              <mc:Fallback>
                <p:oleObj r:id="rId7" imgW="3771900" imgH="4445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7" y="5013176"/>
                        <a:ext cx="8000659" cy="10801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80975" y="8985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53975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,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21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193256"/>
              </p:ext>
            </p:extLst>
          </p:nvPr>
        </p:nvGraphicFramePr>
        <p:xfrm>
          <a:off x="323528" y="413468"/>
          <a:ext cx="7236296" cy="97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r:id="rId3" imgW="3746500" imgH="444500" progId="Equation.DSMT4">
                  <p:embed/>
                </p:oleObj>
              </mc:Choice>
              <mc:Fallback>
                <p:oleObj r:id="rId3" imgW="3746500" imgH="4445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413468"/>
                        <a:ext cx="7236296" cy="9701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1176842"/>
              </p:ext>
            </p:extLst>
          </p:nvPr>
        </p:nvGraphicFramePr>
        <p:xfrm>
          <a:off x="149008" y="1484784"/>
          <a:ext cx="8414572" cy="9462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r:id="rId5" imgW="3924300" imgH="444500" progId="Equation.DSMT4">
                  <p:embed/>
                </p:oleObj>
              </mc:Choice>
              <mc:Fallback>
                <p:oleObj r:id="rId5" imgW="3924300" imgH="4445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008" y="1484784"/>
                        <a:ext cx="8414572" cy="9462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80975" y="8985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53975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,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95536" y="2644170"/>
            <a:ext cx="77048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Коэффициенты заносятся в четыре блока по шаблону</a:t>
            </a:r>
            <a:r>
              <a:rPr lang="ru-RU" dirty="0"/>
              <a:t>:</a:t>
            </a: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4934111"/>
              </p:ext>
            </p:extLst>
          </p:nvPr>
        </p:nvGraphicFramePr>
        <p:xfrm>
          <a:off x="539552" y="3356992"/>
          <a:ext cx="1224136" cy="9884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r:id="rId7" imgW="596900" imgH="482600" progId="Equation.DSMT4">
                  <p:embed/>
                </p:oleObj>
              </mc:Choice>
              <mc:Fallback>
                <p:oleObj r:id="rId7" imgW="596900" imgH="482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3356992"/>
                        <a:ext cx="1224136" cy="98847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2051720" y="3573016"/>
            <a:ext cx="619268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Три блока остаются без изменений, а над первым блоком процедура повторяется сначала до тех пор, пока в первом блоке не окажется один коэффициент.</a:t>
            </a:r>
          </a:p>
          <a:p>
            <a:r>
              <a:rPr lang="ru-RU" sz="2400" dirty="0"/>
              <a:t>Новые коэффициенты вычисляются по формулам:</a:t>
            </a:r>
          </a:p>
        </p:txBody>
      </p:sp>
    </p:spTree>
    <p:extLst>
      <p:ext uri="{BB962C8B-B14F-4D97-AF65-F5344CB8AC3E}">
        <p14:creationId xmlns:p14="http://schemas.microsoft.com/office/powerpoint/2010/main" val="710163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4926089"/>
              </p:ext>
            </p:extLst>
          </p:nvPr>
        </p:nvGraphicFramePr>
        <p:xfrm>
          <a:off x="755576" y="548680"/>
          <a:ext cx="7668344" cy="1402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5" r:id="rId3" imgW="2373870" imgH="431613" progId="Equation.DSMT4">
                  <p:embed/>
                </p:oleObj>
              </mc:Choice>
              <mc:Fallback>
                <p:oleObj r:id="rId3" imgW="2373870" imgH="431613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548680"/>
                        <a:ext cx="7668344" cy="14026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5372727"/>
              </p:ext>
            </p:extLst>
          </p:nvPr>
        </p:nvGraphicFramePr>
        <p:xfrm>
          <a:off x="539552" y="2067197"/>
          <a:ext cx="7570351" cy="1384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6" r:id="rId5" imgW="2373870" imgH="431613" progId="Equation.DSMT4">
                  <p:embed/>
                </p:oleObj>
              </mc:Choice>
              <mc:Fallback>
                <p:oleObj r:id="rId5" imgW="2373870" imgH="431613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2067197"/>
                        <a:ext cx="7570351" cy="13846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1992920"/>
              </p:ext>
            </p:extLst>
          </p:nvPr>
        </p:nvGraphicFramePr>
        <p:xfrm>
          <a:off x="539552" y="3562325"/>
          <a:ext cx="7160670" cy="130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7" r:id="rId7" imgW="2374900" imgH="431800" progId="Equation.DSMT4">
                  <p:embed/>
                </p:oleObj>
              </mc:Choice>
              <mc:Fallback>
                <p:oleObj r:id="rId7" imgW="2374900" imgH="431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3562325"/>
                        <a:ext cx="7160670" cy="13097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3215358"/>
              </p:ext>
            </p:extLst>
          </p:nvPr>
        </p:nvGraphicFramePr>
        <p:xfrm>
          <a:off x="605987" y="4786461"/>
          <a:ext cx="7932025" cy="1450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8" r:id="rId9" imgW="2373870" imgH="431613" progId="Equation.DSMT4">
                  <p:embed/>
                </p:oleObj>
              </mc:Choice>
              <mc:Fallback>
                <p:oleObj r:id="rId9" imgW="2373870" imgH="431613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987" y="4786461"/>
                        <a:ext cx="7932025" cy="14508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80975" y="892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5397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539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,</a:t>
            </a:r>
            <a:endParaRPr kumimoji="0" lang="ru-RU" altLang="ru-RU" sz="7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539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80975" y="13271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5397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539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,</a:t>
            </a:r>
            <a:endParaRPr kumimoji="0" lang="ru-RU" altLang="ru-RU" sz="7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539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80975" y="17621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53975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,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12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7373183"/>
              </p:ext>
            </p:extLst>
          </p:nvPr>
        </p:nvGraphicFramePr>
        <p:xfrm>
          <a:off x="0" y="0"/>
          <a:ext cx="8820472" cy="6669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r:id="rId3" imgW="5562600" imgH="3937000" progId="Equation.DSMT4">
                  <p:embed/>
                </p:oleObj>
              </mc:Choice>
              <mc:Fallback>
                <p:oleObj r:id="rId3" imgW="5562600" imgH="39370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8820472" cy="66693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2592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Статистика </a:t>
            </a:r>
            <a:r>
              <a:rPr lang="en-US" dirty="0" smtClean="0"/>
              <a:t>Wavelet</a:t>
            </a:r>
            <a:r>
              <a:rPr lang="ru-RU" dirty="0" smtClean="0"/>
              <a:t>-коэффициентов</a:t>
            </a:r>
            <a:endParaRPr lang="ru-RU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2368664"/>
              </p:ext>
            </p:extLst>
          </p:nvPr>
        </p:nvGraphicFramePr>
        <p:xfrm>
          <a:off x="2483768" y="4149080"/>
          <a:ext cx="3322655" cy="1584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r:id="rId3" imgW="1943100" imgH="800100" progId="Equation.DSMT4">
                  <p:embed/>
                </p:oleObj>
              </mc:Choice>
              <mc:Fallback>
                <p:oleObj r:id="rId3" imgW="1943100" imgH="8001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4149080"/>
                        <a:ext cx="3322655" cy="15841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683568" y="1412776"/>
            <a:ext cx="777686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Для оптимального квантования </a:t>
            </a:r>
            <a:r>
              <a:rPr lang="en-US" sz="2400" dirty="0"/>
              <a:t>Wavelet</a:t>
            </a:r>
            <a:r>
              <a:rPr lang="ru-RU" sz="2400" dirty="0"/>
              <a:t>-коэффициентов разных уровней (индекс </a:t>
            </a:r>
            <a:r>
              <a:rPr lang="en-US" sz="2400" i="1" dirty="0"/>
              <a:t>l</a:t>
            </a:r>
            <a:r>
              <a:rPr lang="ru-RU" sz="2400" dirty="0"/>
              <a:t>) и направлений (индекс </a:t>
            </a:r>
            <a:r>
              <a:rPr lang="en-US" sz="2400" i="1" dirty="0"/>
              <a:t>k</a:t>
            </a:r>
            <a:r>
              <a:rPr lang="ru-RU" sz="2400" dirty="0"/>
              <a:t>) вычисляются дисперсии коэффициентов каждого блока общей трехуровневой структуры по известным формулам для центрированного относительно нуля набора данных (статистическая модель </a:t>
            </a:r>
            <a:r>
              <a:rPr lang="en-US" sz="2400" dirty="0"/>
              <a:t>Wavelet</a:t>
            </a:r>
            <a:r>
              <a:rPr lang="ru-RU" sz="2400" dirty="0"/>
              <a:t>-коэффициентов):</a:t>
            </a:r>
          </a:p>
        </p:txBody>
      </p:sp>
    </p:spTree>
    <p:extLst>
      <p:ext uri="{BB962C8B-B14F-4D97-AF65-F5344CB8AC3E}">
        <p14:creationId xmlns:p14="http://schemas.microsoft.com/office/powerpoint/2010/main" val="1884994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2" algn="ctr" rtl="0">
              <a:spcBef>
                <a:spcPct val="0"/>
              </a:spcBef>
            </a:pPr>
            <a:r>
              <a:rPr lang="ru-RU" sz="2400" b="1" dirty="0" smtClean="0"/>
              <a:t>Алгоритм квантования </a:t>
            </a:r>
            <a:r>
              <a:rPr lang="en-US" sz="2400" b="1" dirty="0" smtClean="0"/>
              <a:t>Wavelet</a:t>
            </a:r>
            <a:r>
              <a:rPr lang="ru-RU" sz="2400" b="1" dirty="0" smtClean="0"/>
              <a:t>-коэффициентов</a:t>
            </a:r>
            <a:br>
              <a:rPr lang="ru-RU" sz="2400" b="1" dirty="0" smtClean="0"/>
            </a:br>
            <a:endParaRPr lang="ru-RU" sz="24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59332" y="1052736"/>
            <a:ext cx="871296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/>
              <a:t>К </a:t>
            </a:r>
            <a:r>
              <a:rPr lang="ru-RU" sz="2400" dirty="0"/>
              <a:t>исходному изображению применяется </a:t>
            </a:r>
            <a:r>
              <a:rPr lang="en-US" sz="2400" dirty="0"/>
              <a:t>Wavelet</a:t>
            </a:r>
            <a:r>
              <a:rPr lang="ru-RU" sz="2400" dirty="0"/>
              <a:t>-разложение. Для </a:t>
            </a:r>
            <a:r>
              <a:rPr lang="en-US" sz="2400" dirty="0"/>
              <a:t>Wavelet</a:t>
            </a:r>
            <a:r>
              <a:rPr lang="ru-RU" sz="2400" dirty="0"/>
              <a:t>-коэффициентов (горизонтальных, вертикальных, диагональных) всех уровней разложения вычисляются СКО. Далее, при повторном сканировании </a:t>
            </a:r>
            <a:r>
              <a:rPr lang="en-US" sz="2400" dirty="0"/>
              <a:t>Wavelet</a:t>
            </a:r>
            <a:r>
              <a:rPr lang="ru-RU" sz="2400" dirty="0"/>
              <a:t>-коэффициентов выполняется замена значений коэффициентов. Без изменений остаются средние </a:t>
            </a:r>
            <a:r>
              <a:rPr lang="en-US" sz="2400" dirty="0"/>
              <a:t>Wavelet</a:t>
            </a:r>
            <a:r>
              <a:rPr lang="ru-RU" sz="2400" dirty="0"/>
              <a:t>-коэффициенты. При квантовании на два уровня, если значение </a:t>
            </a:r>
            <a:r>
              <a:rPr lang="en-US" sz="2400" dirty="0"/>
              <a:t>Wavelet</a:t>
            </a:r>
            <a:r>
              <a:rPr lang="ru-RU" sz="2400" dirty="0"/>
              <a:t>-коэффициента больше СКО, то заменяем его на 1. Если меньше –СКО, то заменяем на –1. Иначе – заменяем на 0. Таким образом, коэффициенты кодируются тремя значениями: -1, 0, 1. При квантовании на три уровня </a:t>
            </a:r>
            <a:r>
              <a:rPr lang="en-US" sz="2400" dirty="0"/>
              <a:t>Wavelet</a:t>
            </a:r>
            <a:r>
              <a:rPr lang="ru-RU" sz="2400" dirty="0"/>
              <a:t>-коэффициенты могут быть закодированы следующими значениями: -3,  - 2, -1, 0, 1, 2, 3. Значения СКО всех уровней разложения передается вместе с квантованными коэффициентами.</a:t>
            </a:r>
          </a:p>
        </p:txBody>
      </p:sp>
    </p:spTree>
    <p:extLst>
      <p:ext uri="{BB962C8B-B14F-4D97-AF65-F5344CB8AC3E}">
        <p14:creationId xmlns:p14="http://schemas.microsoft.com/office/powerpoint/2010/main" val="1035902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 algn="ctr" rtl="0">
              <a:spcBef>
                <a:spcPct val="0"/>
              </a:spcBef>
            </a:pPr>
            <a:r>
              <a:rPr lang="ru-RU" sz="2400" b="1" dirty="0" smtClean="0"/>
              <a:t>Алгоритм восстановления </a:t>
            </a:r>
            <a:r>
              <a:rPr lang="en-US" sz="2400" b="1" dirty="0" smtClean="0"/>
              <a:t>Wavelet</a:t>
            </a:r>
            <a:r>
              <a:rPr lang="ru-RU" sz="2400" b="1" dirty="0" smtClean="0"/>
              <a:t>-коэффициентов</a:t>
            </a:r>
            <a:br>
              <a:rPr lang="ru-RU" sz="2400" b="1" dirty="0" smtClean="0"/>
            </a:b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79512" y="1988840"/>
            <a:ext cx="874846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/>
              <a:t>При </a:t>
            </a:r>
            <a:r>
              <a:rPr lang="ru-RU" sz="2400" dirty="0"/>
              <a:t>восстановлении код </a:t>
            </a:r>
            <a:r>
              <a:rPr lang="en-US" sz="2400" dirty="0"/>
              <a:t>Wavelet</a:t>
            </a:r>
            <a:r>
              <a:rPr lang="ru-RU" sz="2400" dirty="0"/>
              <a:t>-коэффициента заменяется его значением. Без изменений остаются средние </a:t>
            </a:r>
            <a:r>
              <a:rPr lang="en-US" sz="2400" dirty="0"/>
              <a:t>Wavelet</a:t>
            </a:r>
            <a:r>
              <a:rPr lang="ru-RU" sz="2400" dirty="0"/>
              <a:t>-коэффициенты. Значение СКО всех уровней разложения передано вместе с квантованными коэффициентами. При квантовании на два уровня если значение </a:t>
            </a:r>
            <a:r>
              <a:rPr lang="en-US" sz="2400" dirty="0"/>
              <a:t>Wavelet</a:t>
            </a:r>
            <a:r>
              <a:rPr lang="ru-RU" sz="2400" dirty="0"/>
              <a:t>-коэффициента равно 1, то заменяем на значение СКО. Если равно –1, то заменяем на –СКО. Таким образом, коэффициенты могут принять три значения: -СКО, 0, СКО. При квантовании на три уровня </a:t>
            </a:r>
            <a:r>
              <a:rPr lang="en-US" sz="2400" dirty="0"/>
              <a:t>Wavelet</a:t>
            </a:r>
            <a:r>
              <a:rPr lang="ru-RU" sz="2400" dirty="0"/>
              <a:t>-коэффициенты могут принять семь значений: -1.5*СКО, -СКО, -0.5*СКО, 0, 0.5*СКО, СКО, 1.5*СКО. </a:t>
            </a:r>
          </a:p>
        </p:txBody>
      </p:sp>
    </p:spTree>
    <p:extLst>
      <p:ext uri="{BB962C8B-B14F-4D97-AF65-F5344CB8AC3E}">
        <p14:creationId xmlns:p14="http://schemas.microsoft.com/office/powerpoint/2010/main" val="396924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8979088"/>
              </p:ext>
            </p:extLst>
          </p:nvPr>
        </p:nvGraphicFramePr>
        <p:xfrm>
          <a:off x="323528" y="3501008"/>
          <a:ext cx="3888432" cy="28821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2" name="Visio" r:id="rId3" imgW="3104388" imgH="2380488" progId="Visio.Drawing.11">
                  <p:embed/>
                </p:oleObj>
              </mc:Choice>
              <mc:Fallback>
                <p:oleObj name="Visio" r:id="rId3" imgW="3104388" imgH="2380488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3501008"/>
                        <a:ext cx="3888432" cy="28821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7" name="Объект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2555144"/>
              </p:ext>
            </p:extLst>
          </p:nvPr>
        </p:nvGraphicFramePr>
        <p:xfrm>
          <a:off x="323527" y="260648"/>
          <a:ext cx="3673283" cy="1872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3" r:id="rId5" imgW="1905000" imgH="787400" progId="Equation.DSMT4">
                  <p:embed/>
                </p:oleObj>
              </mc:Choice>
              <mc:Fallback>
                <p:oleObj r:id="rId5" imgW="1905000" imgH="787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7" y="260648"/>
                        <a:ext cx="3673283" cy="18722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Прямоугольник 7"/>
          <p:cNvSpPr/>
          <p:nvPr/>
        </p:nvSpPr>
        <p:spPr>
          <a:xfrm>
            <a:off x="4355976" y="260648"/>
            <a:ext cx="4572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400" dirty="0"/>
              <a:t>Коэффициенты </a:t>
            </a:r>
            <a:r>
              <a:rPr lang="ru-RU" sz="2400" dirty="0" err="1"/>
              <a:t>отквантованы</a:t>
            </a:r>
            <a:r>
              <a:rPr lang="ru-RU" sz="2400" dirty="0"/>
              <a:t> на 1 байт. Разложение полное, то есть имеется </a:t>
            </a:r>
            <a:r>
              <a:rPr lang="ru-RU" sz="2400" i="1" dirty="0"/>
              <a:t>N</a:t>
            </a:r>
            <a:r>
              <a:rPr lang="ru-RU" sz="2400" dirty="0"/>
              <a:t> уровней с 0-го, вырожденного, до </a:t>
            </a:r>
            <a:r>
              <a:rPr lang="ru-RU" sz="2400" i="1" dirty="0"/>
              <a:t>N</a:t>
            </a:r>
            <a:r>
              <a:rPr lang="ru-RU" sz="2400" dirty="0"/>
              <a:t> - 1. Коэффициенты упорядочены традиционным образом. Алгоритм кодирования по методу нуль-деревьев разработан для блоков размером 4</a:t>
            </a:r>
            <a:r>
              <a:rPr lang="ru-RU" sz="2400" dirty="0">
                <a:sym typeface="Symbol"/>
              </a:rPr>
              <a:t></a:t>
            </a:r>
            <a:r>
              <a:rPr lang="ru-RU" sz="2400" dirty="0"/>
              <a:t>4.</a:t>
            </a:r>
          </a:p>
        </p:txBody>
      </p:sp>
      <p:graphicFrame>
        <p:nvGraphicFramePr>
          <p:cNvPr id="9" name="Объект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4764687"/>
              </p:ext>
            </p:extLst>
          </p:nvPr>
        </p:nvGraphicFramePr>
        <p:xfrm>
          <a:off x="3707904" y="5432123"/>
          <a:ext cx="1084712" cy="3731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4" r:id="rId7" imgW="393529" imgH="139639" progId="Equation.DSMT4">
                  <p:embed/>
                </p:oleObj>
              </mc:Choice>
              <mc:Fallback>
                <p:oleObj r:id="rId7" imgW="393529" imgH="139639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5432123"/>
                        <a:ext cx="1084712" cy="3731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Объект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4547385"/>
              </p:ext>
            </p:extLst>
          </p:nvPr>
        </p:nvGraphicFramePr>
        <p:xfrm>
          <a:off x="7508354" y="6189603"/>
          <a:ext cx="1111052" cy="467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5" r:id="rId9" imgW="571004" imgH="177646" progId="Equation.DSMT4">
                  <p:embed/>
                </p:oleObj>
              </mc:Choice>
              <mc:Fallback>
                <p:oleObj r:id="rId9" imgW="571004" imgH="177646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8354" y="6189603"/>
                        <a:ext cx="1111052" cy="4672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3023578" y="4046300"/>
            <a:ext cx="594015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5397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Для вычисления порогов подсчитываются дисперсии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Wavelet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-коэффициентов первого и второго уровня по направлениям. Для второго (высокочастотного уровня) порог равен </a:t>
            </a:r>
            <a:endParaRPr kumimoji="0" lang="ru-RU" alt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3491880" y="5805264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400" dirty="0"/>
              <a:t>Для первого (низкочастотного) уровня порог равен</a:t>
            </a:r>
          </a:p>
        </p:txBody>
      </p:sp>
    </p:spTree>
    <p:extLst>
      <p:ext uri="{BB962C8B-B14F-4D97-AF65-F5344CB8AC3E}">
        <p14:creationId xmlns:p14="http://schemas.microsoft.com/office/powerpoint/2010/main" val="1793255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67544" y="332656"/>
            <a:ext cx="82809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Выходной поток состоит из следующих байтов: 1-й байт – средняя яркость по 16 точкам. Далее анализируются коэффициенты, составляющие деревья 1, 2, 3 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467544" y="1628800"/>
            <a:ext cx="8136904" cy="193899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2000" dirty="0"/>
              <a:t>Если все коэффициенты одного дерева равны 0, в выходной поток заносится 0, если хотя бы один из коэффициентов дерева не равен 0, в выходной поток выносится 1, а за ней – 10 бит, представляющих пять квантованных коэффициентов, закодированных двумя битами. Таким образом, длина закодированного блока из 16 байт составляет от 11 бит до 41 бит.</a:t>
            </a:r>
          </a:p>
        </p:txBody>
      </p:sp>
    </p:spTree>
    <p:extLst>
      <p:ext uri="{BB962C8B-B14F-4D97-AF65-F5344CB8AC3E}">
        <p14:creationId xmlns:p14="http://schemas.microsoft.com/office/powerpoint/2010/main" val="1644517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798964"/>
              </p:ext>
            </p:extLst>
          </p:nvPr>
        </p:nvGraphicFramePr>
        <p:xfrm>
          <a:off x="179512" y="116632"/>
          <a:ext cx="8822356" cy="65527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name="Visio" r:id="rId3" imgW="6307836" imgH="3701796" progId="Visio.Drawing.11">
                  <p:embed/>
                </p:oleObj>
              </mc:Choice>
              <mc:Fallback>
                <p:oleObj name="Visio" r:id="rId3" imgW="6307836" imgH="3701796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116632"/>
                        <a:ext cx="8822356" cy="655272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37233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79512" y="188640"/>
            <a:ext cx="828092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ru-RU" b="1" dirty="0"/>
              <a:t>Декодирование потока сжатых деревьев </a:t>
            </a:r>
            <a:r>
              <a:rPr lang="en-US" b="1" dirty="0"/>
              <a:t>Wavelet</a:t>
            </a:r>
            <a:r>
              <a:rPr lang="ru-RU" b="1" dirty="0" smtClean="0"/>
              <a:t>-коэффициентов</a:t>
            </a:r>
          </a:p>
          <a:p>
            <a:pPr lvl="2"/>
            <a:endParaRPr lang="ru-RU" b="1" dirty="0"/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Восстановление идет по порядку следования коэффициентов, побитно. При появлении 0 в первом бите потока восстанавливается нуль-дерево с узлом 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3384819"/>
              </p:ext>
            </p:extLst>
          </p:nvPr>
        </p:nvGraphicFramePr>
        <p:xfrm>
          <a:off x="467544" y="1638630"/>
          <a:ext cx="648072" cy="4740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5" r:id="rId3" imgW="343049" imgH="254110" progId="Equation.DSMT4">
                  <p:embed/>
                </p:oleObj>
              </mc:Choice>
              <mc:Fallback>
                <p:oleObj r:id="rId3" imgW="343049" imgH="25411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1638630"/>
                        <a:ext cx="648072" cy="47405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8971217"/>
              </p:ext>
            </p:extLst>
          </p:nvPr>
        </p:nvGraphicFramePr>
        <p:xfrm>
          <a:off x="3851920" y="1481302"/>
          <a:ext cx="5040560" cy="498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6" r:id="rId5" imgW="2946400" imgH="279400" progId="Equation.DSMT4">
                  <p:embed/>
                </p:oleObj>
              </mc:Choice>
              <mc:Fallback>
                <p:oleObj r:id="rId5" imgW="2946400" imgH="279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1481302"/>
                        <a:ext cx="5040560" cy="4985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Прямоугольник 7"/>
          <p:cNvSpPr/>
          <p:nvPr/>
        </p:nvSpPr>
        <p:spPr>
          <a:xfrm>
            <a:off x="1720280" y="1690991"/>
            <a:ext cx="12096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и узлами </a:t>
            </a:r>
            <a:endParaRPr kumimoji="0" lang="ru-RU" alt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9" name="Объект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3291382"/>
              </p:ext>
            </p:extLst>
          </p:nvPr>
        </p:nvGraphicFramePr>
        <p:xfrm>
          <a:off x="3131840" y="3593282"/>
          <a:ext cx="432048" cy="3159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7" r:id="rId7" imgW="165243" imgH="165243" progId="Equation.DSMT4">
                  <p:embed/>
                </p:oleObj>
              </mc:Choice>
              <mc:Fallback>
                <p:oleObj r:id="rId7" imgW="165243" imgH="165243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3593282"/>
                        <a:ext cx="432048" cy="31596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Объект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0082452"/>
              </p:ext>
            </p:extLst>
          </p:nvPr>
        </p:nvGraphicFramePr>
        <p:xfrm>
          <a:off x="0" y="4188369"/>
          <a:ext cx="936104" cy="436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8" r:id="rId9" imgW="469900" imgH="254000" progId="Equation.DSMT4">
                  <p:embed/>
                </p:oleObj>
              </mc:Choice>
              <mc:Fallback>
                <p:oleObj r:id="rId9" imgW="469900" imgH="2540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188369"/>
                        <a:ext cx="936104" cy="4365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-25411" y="2708920"/>
            <a:ext cx="898989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5397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dirty="0">
                <a:latin typeface="Arial" pitchFamily="34" charset="0"/>
                <a:ea typeface="Times New Roman" pitchFamily="18" charset="0"/>
                <a:cs typeface="Arial" pitchFamily="34" charset="0"/>
              </a:rPr>
              <a:t>В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элементы изображения с этими номерами помещается 0. Если следующие биты – нули, значит подряд идет несколько нуль-деревьев до первой 1. Как только встречается первая 1, меняется режим декодирования: дальше идет пять </a:t>
            </a:r>
            <a:r>
              <a:rPr kumimoji="0" lang="ru-RU" altLang="ru-RU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-битных коэффициентов. </a:t>
            </a:r>
            <a:r>
              <a:rPr kumimoji="0" lang="en-US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           </a:t>
            </a:r>
            <a:r>
              <a:rPr lang="ru-RU" altLang="ru-RU" dirty="0">
                <a:latin typeface="Arial" pitchFamily="34" charset="0"/>
                <a:ea typeface="Times New Roman" pitchFamily="18" charset="0"/>
                <a:cs typeface="Arial" pitchFamily="34" charset="0"/>
              </a:rPr>
              <a:t>б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ит отсекается</a:t>
            </a:r>
            <a:endParaRPr kumimoji="0" lang="ru-RU" alt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71318" y="4221088"/>
            <a:ext cx="896448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5397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   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-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й бит – признак нового нуль-дерева, которое декодируется также, как будто это нулевой бит подсчет декодированных узлов, чтобы правильно связывать </a:t>
            </a:r>
            <a:r>
              <a:rPr kumimoji="0" lang="en-US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W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avelet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-коэффициенты с элементами изображения. Что касается самих значений восстановленных ненулевых значений </a:t>
            </a:r>
            <a:r>
              <a:rPr kumimoji="0" lang="en-US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W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avelet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-коэффициентов, то им присваивается значение, записанное в </a:t>
            </a:r>
            <a:r>
              <a:rPr kumimoji="0" lang="ru-RU" altLang="ru-RU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 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битах, умноженное на цену разряда данного уровня разложения. </a:t>
            </a:r>
            <a:endParaRPr kumimoji="0" lang="ru-RU" alt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515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88639"/>
            <a:ext cx="8208912" cy="6552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624150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594</Words>
  <Application>Microsoft Office PowerPoint</Application>
  <PresentationFormat>Экран (4:3)</PresentationFormat>
  <Paragraphs>30</Paragraphs>
  <Slides>14</Slides>
  <Notes>0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14</vt:i4>
      </vt:variant>
    </vt:vector>
  </HeadingPairs>
  <TitlesOfParts>
    <vt:vector size="17" baseType="lpstr">
      <vt:lpstr>Тема Office</vt:lpstr>
      <vt:lpstr>Visio</vt:lpstr>
      <vt:lpstr>Equation.DSMT4</vt:lpstr>
      <vt:lpstr>Wavelet-анализ изображений</vt:lpstr>
      <vt:lpstr>Структура кадра</vt:lpstr>
      <vt:lpstr>Расчет W-коэффициентов в базисе Хаара</vt:lpstr>
      <vt:lpstr>Презентация PowerPoint</vt:lpstr>
      <vt:lpstr>Презентация PowerPoint</vt:lpstr>
      <vt:lpstr>Презентация PowerPoint</vt:lpstr>
      <vt:lpstr>Статистика Wavelet-коэффициентов</vt:lpstr>
      <vt:lpstr>Алгоритм квантования Wavelet-коэффициентов </vt:lpstr>
      <vt:lpstr>Алгоритм восстановления Wavelet-коэффициентов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KTNTP</dc:creator>
  <cp:lastModifiedBy>KTNTP</cp:lastModifiedBy>
  <cp:revision>14</cp:revision>
  <dcterms:created xsi:type="dcterms:W3CDTF">2019-10-06T16:26:20Z</dcterms:created>
  <dcterms:modified xsi:type="dcterms:W3CDTF">2019-10-07T06:24:30Z</dcterms:modified>
</cp:coreProperties>
</file>